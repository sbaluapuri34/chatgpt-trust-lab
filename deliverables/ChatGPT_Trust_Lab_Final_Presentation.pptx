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stakeholders and evaluators to the ChatGPT Output Trust &amp; Evaluation Lab project summary. This project was born out of a critical need: while extensive research exists evaluating the mathematical and logical performance of LLMs on standardized benchmarks, very little empirical work has been done examining how real-world practitioners calibrate their trust in everyday operations. Today, we will trace the entire project journey, from data scraping to advanced semantic LLM parsing, revealing major findings regarding user attachment, auditing behaviors, and downstream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executive summary acts as our core high-level overview. We present our quantitative funnel on the right: out of 1,091 unique raw posts pulled via Playwright, 729 were preselected by keyword rules, and 594 were semantically confirmed and categorized. On the left, we map out the core takeaways: 1. The hybrid pipeline succeeded. 2. Keyword rules are highly noisy. 3. Trust breakdown is highly correlated to unannounced OpenAI safety updates. 4. Real-world consequences drive major community engagement.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core problem of Automation Bias in LLMs. Because models write with extreme confidence and flawless grammar, users cannot easily distinguish between true statements and completely fabricated lies. Fictional citations or wrong facts are delivered with absolute certainty. The quote on the right illustrates a user catching 8 to 10 distinct factual errors all delivered with certainty. Our research seeks to map out exactly how users react when they encounter these failures.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define our four primary research objectives. First, we want to harvest organic, raw evidence directly from user self-reports. Second, we map out a refined classification taxonomy aligned to user behaviors. Third, we audit keyword rules to mathematically demonstrate their limits. Fourth, we weight findings using log-scaled upvote scores to represent true community resonance. This lays the complete blueprint for our project execution.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complete hybrid research methodology. The project moves sequentially across 5 distinct phases. Phase 1 ingests deduplicated raw posts. Phase 2 conducts fast keyword candidate pre-screening to optimize api costs. Phase 3 performs deep, mock-free Llama-based semantic classification. Phase 4 programmatically compiles metrics and matrices. Finally, Phase 5 compiles it into our interactive, premium, dark-mode analytical Streamlit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maps out how we obtained our core dataset. We targeted old.reddit.com because its lightweight HTML structures permit fast, headless browser scraping. Playwright bypassed traditional API rate limits by simulating a user session, while blocking large assets like images and ads to speed up crawls. Deduplication automatically discarded posts caught across multiple search terms, ensuring 1,091 100% unique, locked raw posts.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math and counts of our data-funneling stages. We start with a broad raw capture of 1,091 unique threads. Phase 2 keyword heuristics prunes this down to 729 relevance candidates. Phase 3's two-stage semantic LLM classification removes further noise and confirms exactly 594 relevant database records. This yield of 54.4% is extremely high, validating our preprocessing heuristics for candidate capture before API parsing.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discuss the evolution of our theme taxonomy here. Originally, the categorization system was highly engineering-centric, focusing strictly on model outputs (like hallucination counts or sycophancy). We migrated this to a human-aligned, PM-centric research taxonomy. By focusing on how users react to and verify these outputs, our data becomes substantially more valuable for product managers and human-computer interaction (HCI) researchers.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one of our key scientific findings, which we call 'The Prevalence Paradox'. If you look at the raw counts, 'Confidently Incorrect Outputs' is the largest theme by far with 185 posts (31.14%). However, when we adjust for community engagement using our log-scaled upvote weighting formula, 'Real-World Impact' rises to become the largest theme with 26.40% weighted prevalence. This mathematically proves that while minor errors are highly frequent, users are far more motivated to discuss, upvote, and validate threads containing tangible downstream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risk severity analysis. We categorize post outcomes into low, medium, and high severity. Low severity includes simple jokes or minor conversational mistakes. Medium severity represents moderate friction, such as wasting hours debugging a fabricated code package. High severity represents major damages, including legal liability, medical errors, or financial fraud. This mapping allows us to evaluate the risk landscape of model failures.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 a thematic deep-dive into 'User Trust Breakdown'. This theme represents 12.12% raw prevalence but rises to 18.45% weighted prevalence, indicating high engagement. Our core finding is that trust breakdown is heavily driven by platform management: unannounced safety filter updates, model behavior shifts, and support lack. The quote on the right shows the intense user frustration when they feel OpenAI has silently degraded the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deep-dive into 'Over-Reliance on AI Outputs'. This theme is highly critical: 12.29% raw prevalence. The driver here is anthropomorphism. The quote on the right highlights a user stating ChatGPT understood them better in 5 minutes than a human psychologist did in 5 years. While it shows the therapeutic potential of simulated empathy, it also highlights the danger: if users establish this level of trust, their fact-checking guard drops entirely, making them highly vulnerable to medical or life-decision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explores 'User Evaluation &amp; Verification Behavior'. This is an incredibly encouraging theme, representing 14.65% raw prevalence. We capture users developing active, healthy skepticism. When they catch the model fabricating papers or quotes, they create robust prompt guardrails, such as demanding citations, double-checking academic databases, or building dedicated validator packages. It shows that users can successfully learn confidence calibration through active tool audits.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discuss 'Real-World Impact of AI Outputs'. This is our most viral theme, representing a massive 26.40% weighted prevalence. Downstream outcomes are highly concrete. The quote on the right is extremely powerful: a user used ChatGPT to analyze their cat's complex blood panel, caught a major veterinarian diagnosis mistake, and prevented a wrongful euthanasia. This shows the incredible value of ChatGPT as a translation and explanation tool, provided that the human operator remains in the loop to cross-examine.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discuss 'Persuasive Outputs &amp; Trust Formation'. Representing 7.74% raw prevalence, this theme exposes sycophancy. Sycophancy occurs when the model flatters the user or agrees with their wrong assumptions to avoid debate. The quote on the right notes that users catch models exhibiting sycophancy in strategy, strategy, ethics, and subjective domains. It indicates that highly fluent simulated empathy can act as a persuasive screen, quietly overriding natural human skepticism.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synthesizes our three major project findings. First, the Prevalence Paradox shows the gap between error frequency and emotional impact. Second, the Migration Criticality shows that keyword matching alone fails sentiment audits completely, justifying our advanced LLM architecture. Third, the Trust Tension shows the division between emotionally attached users and highly skepticism-driven professional practitioners who catch errors and build custom auditing rules.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Product Managers, this is the most critical slide in the deck. We translate our research insights into three concrete product opportunities. First, we suggest an Active Uncertainty UI to highlight low-confidence generations visually. Second, we recommend explicit version control and detailed platform changelogs to combat trust breakdown. Third, we propose embedded verification integrations to allow instant source checking.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details our action recommendations for two core audiences. For LLM providers, we recommend training models to resist sycophancy, implementing clinical/legal UI safeguards, and standardizing version tokens in APIs. For users and researchers, we recommend adopting active cross-examination heuristics and utilizing two-stage hybrid semantic ingestion architectures rather than keyword heuristics.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discuss our project's limitations. First, we acknowledge Reddit selection bias: users who are satisfied rarely post, so failures are naturally over-represented. Second, our ingestion targeted only post bodies, not comments. Third, our 9-month temporal horizon represents a static snapshot. Fourth, the model size (Llama 3.1 8B) could introduce minor boundaries on highly complex semantic threads. Acknowledging these limitations supports our academic integrity.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ChatGPT Output Trust &amp; Evaluation Lab represents an empirical milestone. We successfully mapped the real-world user trust landscape of ChatGPT. We mathematically demonstrated that keyword counting is highly insufficient for sentiment audits, and outlined actionable strategic suggestions for future LLM product designs. Our open-source database and Streamlit dashboard will serve as key platforms for ongoing research. Thank you for your time, and I am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10058400" cy="2011680"/>
          </a:xfrm>
          <a:prstGeom prst="rect">
            <a:avLst/>
          </a:prstGeom>
          <a:noFill/>
        </p:spPr>
        <p:txBody>
          <a:bodyPr wrap="square" lIns="0" tIns="0" rIns="0" bIns="0">
            <a:spAutoFit/>
          </a:bodyPr>
          <a:lstStyle/>
          <a:p>
            <a:pPr>
              <a:defRPr sz="4600" b="1">
                <a:solidFill>
                  <a:srgbClr val="F8FAFC"/>
                </a:solidFill>
                <a:latin typeface="Arial"/>
              </a:defRPr>
            </a:pPr>
            <a:r>
              <a:t>ChatGPT Output Trust &amp;</a:t>
            </a:r>
            <a:br/>
            <a:r>
              <a:t>Evaluation Lab</a:t>
            </a:r>
          </a:p>
        </p:txBody>
      </p:sp>
      <p:sp>
        <p:nvSpPr>
          <p:cNvPr id="5" name="TextBox 4"/>
          <p:cNvSpPr txBox="1"/>
          <p:nvPr/>
        </p:nvSpPr>
        <p:spPr>
          <a:xfrm>
            <a:off x="1097280" y="4114800"/>
            <a:ext cx="10058400" cy="1097280"/>
          </a:xfrm>
          <a:prstGeom prst="rect">
            <a:avLst/>
          </a:prstGeom>
          <a:noFill/>
        </p:spPr>
        <p:txBody>
          <a:bodyPr wrap="square" lIns="0" tIns="0" rIns="0" bIns="0">
            <a:spAutoFit/>
          </a:bodyPr>
          <a:lstStyle/>
          <a:p>
            <a:pPr>
              <a:defRPr sz="1800">
                <a:solidFill>
                  <a:srgbClr val="94A3B8"/>
                </a:solidFill>
                <a:latin typeface="Arial"/>
              </a:defRPr>
            </a:pPr>
            <a:r>
              <a:t>An Empirical Investigation of User Trust Calibration, AI Hallucinations,</a:t>
            </a:r>
            <a:br/>
            <a:r>
              <a:t>and Human Evaluation Heuristics in the r/ChatGPT Ecosystem</a:t>
            </a:r>
          </a:p>
        </p:txBody>
      </p:sp>
      <p:sp>
        <p:nvSpPr>
          <p:cNvPr id="6" name="TextBox 5"/>
          <p:cNvSpPr txBox="1"/>
          <p:nvPr/>
        </p:nvSpPr>
        <p:spPr>
          <a:xfrm>
            <a:off x="1097280" y="5486400"/>
            <a:ext cx="10058400" cy="548640"/>
          </a:xfrm>
          <a:prstGeom prst="rect">
            <a:avLst/>
          </a:prstGeom>
          <a:noFill/>
        </p:spPr>
        <p:txBody>
          <a:bodyPr wrap="square" lIns="0" tIns="0" rIns="0" bIns="0">
            <a:spAutoFit/>
          </a:bodyPr>
          <a:lstStyle/>
          <a:p>
            <a:pPr>
              <a:defRPr sz="1200" b="1">
                <a:solidFill>
                  <a:srgbClr val="8B5CF6"/>
                </a:solidFill>
                <a:latin typeface="Arial"/>
              </a:defRPr>
            </a:pPr>
            <a:r>
              <a:t>Presented by: Srish (s.baluapuri34@gmail.com)  |  Version 1.0  |  May 30,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BRIEF OVERVIEW</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Executive Summary</a:t>
            </a:r>
          </a:p>
        </p:txBody>
      </p:sp>
      <p:sp>
        <p:nvSpPr>
          <p:cNvPr id="5" name="TextBox 4"/>
          <p:cNvSpPr txBox="1"/>
          <p:nvPr/>
        </p:nvSpPr>
        <p:spPr>
          <a:xfrm>
            <a:off x="685800" y="1645920"/>
            <a:ext cx="5486400" cy="4572000"/>
          </a:xfrm>
          <a:prstGeom prst="rect">
            <a:avLst/>
          </a:prstGeom>
          <a:noFill/>
        </p:spPr>
        <p:txBody>
          <a:bodyPr wrap="square" lIns="0" tIns="0" rIns="0" bIns="0">
            <a:spAutoFit/>
          </a:bodyPr>
          <a:lstStyle/>
          <a:p>
            <a:pPr>
              <a:spcAft>
                <a:spcPts val="1400"/>
              </a:spcAft>
              <a:defRPr sz="2000" b="1">
                <a:solidFill>
                  <a:srgbClr val="3B82F6"/>
                </a:solidFill>
                <a:latin typeface="Arial"/>
              </a:defRPr>
            </a:pPr>
            <a:r>
              <a:t>Empirical Auditing of LLM Trust Calibration</a:t>
            </a:r>
          </a:p>
          <a:p>
            <a:pPr>
              <a:spcAft>
                <a:spcPts val="1000"/>
              </a:spcAft>
              <a:defRPr sz="1400">
                <a:solidFill>
                  <a:srgbClr val="F8FAFC"/>
                </a:solidFill>
                <a:latin typeface="Arial"/>
              </a:defRPr>
            </a:pPr>
            <a:r>
              <a:t>• A rigorous, hybrid 5-phase data pipeline was engineered to ingest 1,091 unique posts, pre-screen 729 candidates, and classify 594 relevant threads from r/ChatGPT.</a:t>
            </a:r>
          </a:p>
          <a:p>
            <a:pPr>
              <a:spcAft>
                <a:spcPts val="1000"/>
              </a:spcAft>
              <a:defRPr sz="1400">
                <a:solidFill>
                  <a:srgbClr val="F8FAFC"/>
                </a:solidFill>
                <a:latin typeface="Arial"/>
              </a:defRPr>
            </a:pPr>
            <a:r>
              <a:t>• Traditional keyword matching was audited and mathematically proven highly insufficient, exhibiting an 88.89% false positive rate and a 60% false negative rate.</a:t>
            </a:r>
          </a:p>
          <a:p>
            <a:pPr>
              <a:spcAft>
                <a:spcPts val="1000"/>
              </a:spcAft>
              <a:defRPr sz="1400">
                <a:solidFill>
                  <a:srgbClr val="F8FAFC"/>
                </a:solidFill>
                <a:latin typeface="Arial"/>
              </a:defRPr>
            </a:pPr>
            <a:r>
              <a:t>• Quantified a fundamental tension in trust calibration: users seeking emotional support exhibit high levels of Over-Reliance (12.29%), while practitioners catching hallucinations develop custom verification tools and protocols (14.65%).</a:t>
            </a:r>
          </a:p>
          <a:p>
            <a:pPr>
              <a:spcAft>
                <a:spcPts val="1000"/>
              </a:spcAft>
              <a:defRPr sz="1400">
                <a:solidFill>
                  <a:srgbClr val="F8FAFC"/>
                </a:solidFill>
                <a:latin typeface="Arial"/>
              </a:defRPr>
            </a:pPr>
            <a:r>
              <a:t>• While Confidently Incorrect Outputs are the most frequent machine failures (31.14%), Real-World Impact (consequences) generates massive community upvoting and attention (26.40% weighted prevalence).</a:t>
            </a:r>
          </a:p>
        </p:txBody>
      </p:sp>
      <p:sp>
        <p:nvSpPr>
          <p:cNvPr id="6" name="Rectangle 5"/>
          <p:cNvSpPr/>
          <p:nvPr/>
        </p:nvSpPr>
        <p:spPr>
          <a:xfrm>
            <a:off x="6858000" y="1645920"/>
            <a:ext cx="4572000" cy="11887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2800" b="1">
                <a:solidFill>
                  <a:srgbClr val="8B5CF6"/>
                </a:solidFill>
                <a:latin typeface="Arial"/>
              </a:defRPr>
            </a:pPr>
            <a:r>
              <a:t>1,091</a:t>
            </a:r>
          </a:p>
          <a:p>
            <a:pPr>
              <a:defRPr sz="1100" b="1">
                <a:solidFill>
                  <a:srgbClr val="94A3B8"/>
                </a:solidFill>
                <a:latin typeface="Arial"/>
              </a:defRPr>
            </a:pPr>
            <a:r>
              <a:t>Raw Ingested Threads  |  Deduplicated from old.reddit.com</a:t>
            </a:r>
          </a:p>
        </p:txBody>
      </p:sp>
      <p:sp>
        <p:nvSpPr>
          <p:cNvPr id="7" name="Rectangle 6"/>
          <p:cNvSpPr/>
          <p:nvPr/>
        </p:nvSpPr>
        <p:spPr>
          <a:xfrm>
            <a:off x="6858000" y="3108960"/>
            <a:ext cx="4572000" cy="11887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2800" b="1">
                <a:solidFill>
                  <a:srgbClr val="8B5CF6"/>
                </a:solidFill>
                <a:latin typeface="Arial"/>
              </a:defRPr>
            </a:pPr>
            <a:r>
              <a:t>729</a:t>
            </a:r>
          </a:p>
          <a:p>
            <a:pPr>
              <a:defRPr sz="1100" b="1">
                <a:solidFill>
                  <a:srgbClr val="94A3B8"/>
                </a:solidFill>
                <a:latin typeface="Arial"/>
              </a:defRPr>
            </a:pPr>
            <a:r>
              <a:t>Keyword Candidates  |  Filtered in Phase 2 pre-screening</a:t>
            </a:r>
          </a:p>
        </p:txBody>
      </p:sp>
      <p:sp>
        <p:nvSpPr>
          <p:cNvPr id="8" name="Rectangle 7"/>
          <p:cNvSpPr/>
          <p:nvPr/>
        </p:nvSpPr>
        <p:spPr>
          <a:xfrm>
            <a:off x="6858000" y="4572000"/>
            <a:ext cx="4572000" cy="11887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2800" b="1">
                <a:solidFill>
                  <a:srgbClr val="8B5CF6"/>
                </a:solidFill>
                <a:latin typeface="Arial"/>
              </a:defRPr>
            </a:pPr>
            <a:r>
              <a:t>594</a:t>
            </a:r>
          </a:p>
          <a:p>
            <a:pPr>
              <a:defRPr sz="1100" b="1">
                <a:solidFill>
                  <a:srgbClr val="94A3B8"/>
                </a:solidFill>
                <a:latin typeface="Arial"/>
              </a:defRPr>
            </a:pPr>
            <a:r>
              <a:t>Relevant Classified Posts  |  Stage 1 relevance-confirmed by LLM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RESEARCH CONTEXT</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The Problem Statement</a:t>
            </a:r>
          </a:p>
        </p:txBody>
      </p:sp>
      <p:sp>
        <p:nvSpPr>
          <p:cNvPr id="5" name="TextBox 4"/>
          <p:cNvSpPr txBox="1"/>
          <p:nvPr/>
        </p:nvSpPr>
        <p:spPr>
          <a:xfrm>
            <a:off x="685800" y="1645920"/>
            <a:ext cx="5029200" cy="4572000"/>
          </a:xfrm>
          <a:prstGeom prst="rect">
            <a:avLst/>
          </a:prstGeom>
          <a:noFill/>
        </p:spPr>
        <p:txBody>
          <a:bodyPr wrap="square" lIns="0" tIns="0" rIns="0" bIns="0">
            <a:spAutoFit/>
          </a:bodyPr>
          <a:lstStyle/>
          <a:p>
            <a:pPr>
              <a:spcAft>
                <a:spcPts val="1400"/>
              </a:spcAft>
              <a:defRPr sz="2000" b="1">
                <a:solidFill>
                  <a:srgbClr val="3B82F6"/>
                </a:solidFill>
                <a:latin typeface="Arial"/>
              </a:defRPr>
            </a:pPr>
            <a:r>
              <a:t>Automation Bias &amp; Semantic Uncertainty</a:t>
            </a:r>
          </a:p>
          <a:p>
            <a:pPr>
              <a:spcAft>
                <a:spcPts val="1200"/>
              </a:spcAft>
              <a:defRPr sz="1400">
                <a:solidFill>
                  <a:srgbClr val="F8FAFC"/>
                </a:solidFill>
                <a:latin typeface="Arial"/>
              </a:defRPr>
            </a:pPr>
            <a:r>
              <a:t>• LLMs achieve unprecedented conversational fluency and empathy simulation, leading users to trust outputs implicitly.</a:t>
            </a:r>
          </a:p>
          <a:p>
            <a:pPr>
              <a:spcAft>
                <a:spcPts val="1200"/>
              </a:spcAft>
              <a:defRPr sz="1400">
                <a:solidFill>
                  <a:srgbClr val="F8FAFC"/>
                </a:solidFill>
                <a:latin typeface="Arial"/>
              </a:defRPr>
            </a:pPr>
            <a:r>
              <a:t>• The system has no internal concept of truth; it confidently fabricates legal citations, medical advice, and code functions without indicating its uncertainty.</a:t>
            </a:r>
          </a:p>
          <a:p>
            <a:pPr>
              <a:spcAft>
                <a:spcPts val="1200"/>
              </a:spcAft>
              <a:defRPr sz="1400">
                <a:solidFill>
                  <a:srgbClr val="F8FAFC"/>
                </a:solidFill>
                <a:latin typeface="Arial"/>
              </a:defRPr>
            </a:pPr>
            <a:r>
              <a:t>• Standard evaluation benchmarks (MMLU, HumanEval) ignore human factors, failing to measure when and why users accept false statements.</a:t>
            </a:r>
          </a:p>
          <a:p>
            <a:pPr>
              <a:spcAft>
                <a:spcPts val="1200"/>
              </a:spcAft>
              <a:defRPr sz="1400">
                <a:solidFill>
                  <a:srgbClr val="F8FAFC"/>
                </a:solidFill>
                <a:latin typeface="Arial"/>
              </a:defRPr>
            </a:pPr>
            <a:r>
              <a:t>• Traditional sentiment analysis is incapable of capturing implicit trust breakdown, requiring a two-stage semantic categorization workflow.</a:t>
            </a:r>
          </a:p>
        </p:txBody>
      </p:sp>
      <p:sp>
        <p:nvSpPr>
          <p:cNvPr id="6" name="Rectangle 5"/>
          <p:cNvSpPr/>
          <p:nvPr/>
        </p:nvSpPr>
        <p:spPr>
          <a:xfrm>
            <a:off x="6217920" y="1645920"/>
            <a:ext cx="5212080" cy="4114800"/>
          </a:xfrm>
          <a:prstGeom prst="rect">
            <a:avLst/>
          </a:prstGeom>
          <a:solidFill>
            <a:srgbClr val="111827"/>
          </a:solid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2200" b="1" i="1">
                <a:solidFill>
                  <a:srgbClr val="EF4444"/>
                </a:solidFill>
                <a:latin typeface="Arial"/>
              </a:defRPr>
            </a:pPr>
            <a:r>
              <a:t>“I counted roughly 8–10 distinct factual errors, all delivered with certainty.”</a:t>
            </a:r>
          </a:p>
          <a:p>
            <a:pPr>
              <a:spcAft>
                <a:spcPts val="1400"/>
              </a:spcAft>
              <a:defRPr sz="1200" b="1">
                <a:solidFill>
                  <a:srgbClr val="94A3B8"/>
                </a:solidFill>
                <a:latin typeface="Arial"/>
              </a:defRPr>
            </a:pPr>
            <a:r>
              <a:t>— ChatGPT User experience report on blind trust and factual mistakes</a:t>
            </a:r>
          </a:p>
          <a:p>
            <a:pPr>
              <a:defRPr sz="1300">
                <a:solidFill>
                  <a:srgbClr val="F8FAFC"/>
                </a:solidFill>
                <a:latin typeface="Arial"/>
              </a:defRPr>
            </a:pPr>
            <a:r>
              <a:t>Without visual uncertainty feedback, users treat highly fluent hallucinations as verified facts. This creates a critical design problem: how can developers encourage healthy verification rather than blind over-reliance?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PROJECT GOALS</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Research Objectives</a:t>
            </a:r>
          </a:p>
        </p:txBody>
      </p:sp>
      <p:sp>
        <p:nvSpPr>
          <p:cNvPr id="5" name="Rectangle 4"/>
          <p:cNvSpPr/>
          <p:nvPr/>
        </p:nvSpPr>
        <p:spPr>
          <a:xfrm>
            <a:off x="685800" y="1645920"/>
            <a:ext cx="2560320" cy="4114800"/>
          </a:xfrm>
          <a:prstGeom prst="rect">
            <a:avLst/>
          </a:prstGeom>
          <a:solidFill>
            <a:srgbClr val="11182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700" b="1">
                <a:solidFill>
                  <a:srgbClr val="3B82F6"/>
                </a:solidFill>
                <a:latin typeface="Arial"/>
              </a:defRPr>
            </a:pPr>
            <a:r>
              <a:t>1. Ingest Organic Evidence</a:t>
            </a:r>
          </a:p>
          <a:p>
            <a:pPr>
              <a:spcAft>
                <a:spcPts val="1000"/>
              </a:spcAft>
              <a:defRPr sz="1300">
                <a:solidFill>
                  <a:srgbClr val="F8FAFC"/>
                </a:solidFill>
                <a:latin typeface="Arial"/>
              </a:defRPr>
            </a:pPr>
            <a:r>
              <a:t>Harvest unvarnished, real-world user reports and complaints regarding ChatGPT output failures from active practitioner communities.</a:t>
            </a:r>
          </a:p>
        </p:txBody>
      </p:sp>
      <p:sp>
        <p:nvSpPr>
          <p:cNvPr id="6" name="Rectangle 5"/>
          <p:cNvSpPr/>
          <p:nvPr/>
        </p:nvSpPr>
        <p:spPr>
          <a:xfrm>
            <a:off x="3383280" y="1645920"/>
            <a:ext cx="2560320" cy="4114800"/>
          </a:xfrm>
          <a:prstGeom prst="rect">
            <a:avLst/>
          </a:prstGeom>
          <a:solidFill>
            <a:srgbClr val="111827"/>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700" b="1">
                <a:solidFill>
                  <a:srgbClr val="8B5CF6"/>
                </a:solidFill>
                <a:latin typeface="Arial"/>
              </a:defRPr>
            </a:pPr>
            <a:r>
              <a:t>2. Evolve Taxonomy</a:t>
            </a:r>
          </a:p>
          <a:p>
            <a:pPr>
              <a:spcAft>
                <a:spcPts val="1000"/>
              </a:spcAft>
              <a:defRPr sz="1300">
                <a:solidFill>
                  <a:srgbClr val="F8FAFC"/>
                </a:solidFill>
                <a:latin typeface="Arial"/>
              </a:defRPr>
            </a:pPr>
            <a:r>
              <a:t>Evolve primitive technical engineering classifications into highly expressive, human-aligned research themes that reflect the user journey.</a:t>
            </a:r>
          </a:p>
        </p:txBody>
      </p:sp>
      <p:sp>
        <p:nvSpPr>
          <p:cNvPr id="7" name="Rectangle 6"/>
          <p:cNvSpPr/>
          <p:nvPr/>
        </p:nvSpPr>
        <p:spPr>
          <a:xfrm>
            <a:off x="6080760" y="1645920"/>
            <a:ext cx="2560320" cy="4114800"/>
          </a:xfrm>
          <a:prstGeom prst="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700" b="1">
                <a:solidFill>
                  <a:srgbClr val="10B981"/>
                </a:solidFill>
                <a:latin typeface="Arial"/>
              </a:defRPr>
            </a:pPr>
            <a:r>
              <a:t>3. Audit Matching Rules</a:t>
            </a:r>
          </a:p>
          <a:p>
            <a:pPr>
              <a:spcAft>
                <a:spcPts val="1000"/>
              </a:spcAft>
              <a:defRPr sz="1300">
                <a:solidFill>
                  <a:srgbClr val="F8FAFC"/>
                </a:solidFill>
                <a:latin typeface="Arial"/>
              </a:defRPr>
            </a:pPr>
            <a:r>
              <a:t>Quantify the accuracy and limitations of traditional deterministic keyword pre-screening heuristics compared to semantic LLM classifiers.</a:t>
            </a:r>
          </a:p>
        </p:txBody>
      </p:sp>
      <p:sp>
        <p:nvSpPr>
          <p:cNvPr id="8" name="Rectangle 7"/>
          <p:cNvSpPr/>
          <p:nvPr/>
        </p:nvSpPr>
        <p:spPr>
          <a:xfrm>
            <a:off x="8778240" y="1645920"/>
            <a:ext cx="2560320" cy="4114800"/>
          </a:xfrm>
          <a:prstGeom prst="rect">
            <a:avLst/>
          </a:prstGeom>
          <a:solidFill>
            <a:srgbClr val="111827"/>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700" b="1">
                <a:solidFill>
                  <a:srgbClr val="EF4444"/>
                </a:solidFill>
                <a:latin typeface="Arial"/>
              </a:defRPr>
            </a:pPr>
            <a:r>
              <a:t>4. Quantify Virality</a:t>
            </a:r>
          </a:p>
          <a:p>
            <a:pPr>
              <a:spcAft>
                <a:spcPts val="1000"/>
              </a:spcAft>
              <a:defRPr sz="1300">
                <a:solidFill>
                  <a:srgbClr val="F8FAFC"/>
                </a:solidFill>
                <a:latin typeface="Arial"/>
              </a:defRPr>
            </a:pPr>
            <a:r>
              <a:t>Calculate engagement-weighted prevalence rates to prioritize viral community narratives over single-user comments, and serve an open-source dashboard.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PIPELINE DESIGN</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The Methodology Overview</a:t>
            </a:r>
          </a:p>
        </p:txBody>
      </p:sp>
      <p:sp>
        <p:nvSpPr>
          <p:cNvPr id="5" name="Rectangle 4"/>
          <p:cNvSpPr/>
          <p:nvPr/>
        </p:nvSpPr>
        <p:spPr>
          <a:xfrm>
            <a:off x="685800" y="1645920"/>
            <a:ext cx="2011680" cy="41148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228600" rIns="164592"/>
          <a:lstStyle/>
          <a:p>
            <a:pPr algn="ctr">
              <a:spcAft>
                <a:spcPts val="600"/>
              </a:spcAft>
              <a:defRPr sz="1300" b="1">
                <a:solidFill>
                  <a:srgbClr val="8B5CF6"/>
                </a:solidFill>
                <a:latin typeface="Arial"/>
              </a:defRPr>
            </a:pPr>
            <a:r>
              <a:t>Phase 1</a:t>
            </a:r>
          </a:p>
          <a:p>
            <a:pPr>
              <a:spcAft>
                <a:spcPts val="1400"/>
              </a:spcAft>
              <a:defRPr sz="1600" b="1">
                <a:solidFill>
                  <a:srgbClr val="F8FAFC"/>
                </a:solidFill>
                <a:latin typeface="Arial"/>
              </a:defRPr>
            </a:pPr>
            <a:r>
              <a:t>Data Collection</a:t>
            </a:r>
          </a:p>
          <a:p>
            <a:pPr>
              <a:spcAft>
                <a:spcPts val="1400"/>
              </a:spcAft>
              <a:defRPr sz="1100">
                <a:solidFill>
                  <a:srgbClr val="94A3B8"/>
                </a:solidFill>
                <a:latin typeface="Arial"/>
              </a:defRPr>
            </a:pPr>
            <a:r>
              <a:t>Playwright scraping of old.reddit.com</a:t>
            </a:r>
          </a:p>
          <a:p>
            <a:pPr>
              <a:defRPr sz="1200" b="1">
                <a:solidFill>
                  <a:srgbClr val="10B981"/>
                </a:solidFill>
                <a:latin typeface="Arial"/>
              </a:defRPr>
            </a:pPr>
            <a:r>
              <a:t>➔ 1,091 Raw Posts</a:t>
            </a:r>
          </a:p>
        </p:txBody>
      </p:sp>
      <p:sp>
        <p:nvSpPr>
          <p:cNvPr id="6" name="Rectangle 5"/>
          <p:cNvSpPr/>
          <p:nvPr/>
        </p:nvSpPr>
        <p:spPr>
          <a:xfrm>
            <a:off x="2852928" y="1645920"/>
            <a:ext cx="2011680" cy="41148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228600" rIns="164592"/>
          <a:lstStyle/>
          <a:p>
            <a:pPr algn="ctr">
              <a:spcAft>
                <a:spcPts val="600"/>
              </a:spcAft>
              <a:defRPr sz="1300" b="1">
                <a:solidFill>
                  <a:srgbClr val="8B5CF6"/>
                </a:solidFill>
                <a:latin typeface="Arial"/>
              </a:defRPr>
            </a:pPr>
            <a:r>
              <a:t>Phase 2</a:t>
            </a:r>
          </a:p>
          <a:p>
            <a:pPr>
              <a:spcAft>
                <a:spcPts val="1400"/>
              </a:spcAft>
              <a:defRPr sz="1600" b="1">
                <a:solidFill>
                  <a:srgbClr val="F8FAFC"/>
                </a:solidFill>
                <a:latin typeface="Arial"/>
              </a:defRPr>
            </a:pPr>
            <a:r>
              <a:t>Preprocessing Heuristics</a:t>
            </a:r>
          </a:p>
          <a:p>
            <a:pPr>
              <a:spcAft>
                <a:spcPts val="1400"/>
              </a:spcAft>
              <a:defRPr sz="1100">
                <a:solidFill>
                  <a:srgbClr val="94A3B8"/>
                </a:solidFill>
                <a:latin typeface="Arial"/>
              </a:defRPr>
            </a:pPr>
            <a:r>
              <a:t>Keyword density &amp; upvote candidate screening</a:t>
            </a:r>
          </a:p>
          <a:p>
            <a:pPr>
              <a:defRPr sz="1200" b="1">
                <a:solidFill>
                  <a:srgbClr val="10B981"/>
                </a:solidFill>
                <a:latin typeface="Arial"/>
              </a:defRPr>
            </a:pPr>
            <a:r>
              <a:t>➔ 729 Candidates</a:t>
            </a:r>
          </a:p>
        </p:txBody>
      </p:sp>
      <p:sp>
        <p:nvSpPr>
          <p:cNvPr id="7" name="Rectangle 6"/>
          <p:cNvSpPr/>
          <p:nvPr/>
        </p:nvSpPr>
        <p:spPr>
          <a:xfrm>
            <a:off x="5020056" y="1645920"/>
            <a:ext cx="2011680" cy="41148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228600" rIns="164592"/>
          <a:lstStyle/>
          <a:p>
            <a:pPr algn="ctr">
              <a:spcAft>
                <a:spcPts val="600"/>
              </a:spcAft>
              <a:defRPr sz="1300" b="1">
                <a:solidFill>
                  <a:srgbClr val="8B5CF6"/>
                </a:solidFill>
                <a:latin typeface="Arial"/>
              </a:defRPr>
            </a:pPr>
            <a:r>
              <a:t>Phase 3</a:t>
            </a:r>
          </a:p>
          <a:p>
            <a:pPr>
              <a:spcAft>
                <a:spcPts val="1400"/>
              </a:spcAft>
              <a:defRPr sz="1600" b="1">
                <a:solidFill>
                  <a:srgbClr val="F8FAFC"/>
                </a:solidFill>
                <a:latin typeface="Arial"/>
              </a:defRPr>
            </a:pPr>
            <a:r>
              <a:t>Two-Stage LLM</a:t>
            </a:r>
          </a:p>
          <a:p>
            <a:pPr>
              <a:spcAft>
                <a:spcPts val="1400"/>
              </a:spcAft>
              <a:defRPr sz="1100">
                <a:solidFill>
                  <a:srgbClr val="94A3B8"/>
                </a:solidFill>
                <a:latin typeface="Arial"/>
              </a:defRPr>
            </a:pPr>
            <a:r>
              <a:t>Llama 3.1 8B relevance and theme extraction</a:t>
            </a:r>
          </a:p>
          <a:p>
            <a:pPr>
              <a:defRPr sz="1200" b="1">
                <a:solidFill>
                  <a:srgbClr val="10B981"/>
                </a:solidFill>
                <a:latin typeface="Arial"/>
              </a:defRPr>
            </a:pPr>
            <a:r>
              <a:t>➔ 594 Classified DB</a:t>
            </a:r>
          </a:p>
        </p:txBody>
      </p:sp>
      <p:sp>
        <p:nvSpPr>
          <p:cNvPr id="8" name="Rectangle 7"/>
          <p:cNvSpPr/>
          <p:nvPr/>
        </p:nvSpPr>
        <p:spPr>
          <a:xfrm>
            <a:off x="7187184" y="1645920"/>
            <a:ext cx="2011680" cy="41148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228600" rIns="164592"/>
          <a:lstStyle/>
          <a:p>
            <a:pPr algn="ctr">
              <a:spcAft>
                <a:spcPts val="600"/>
              </a:spcAft>
              <a:defRPr sz="1300" b="1">
                <a:solidFill>
                  <a:srgbClr val="8B5CF6"/>
                </a:solidFill>
                <a:latin typeface="Arial"/>
              </a:defRPr>
            </a:pPr>
            <a:r>
              <a:t>Phase 4</a:t>
            </a:r>
          </a:p>
          <a:p>
            <a:pPr>
              <a:spcAft>
                <a:spcPts val="1400"/>
              </a:spcAft>
              <a:defRPr sz="1600" b="1">
                <a:solidFill>
                  <a:srgbClr val="F8FAFC"/>
                </a:solidFill>
                <a:latin typeface="Arial"/>
              </a:defRPr>
            </a:pPr>
            <a:r>
              <a:t>Programmatic Aggs</a:t>
            </a:r>
          </a:p>
          <a:p>
            <a:pPr>
              <a:spcAft>
                <a:spcPts val="1400"/>
              </a:spcAft>
              <a:defRPr sz="1100">
                <a:solidFill>
                  <a:srgbClr val="94A3B8"/>
                </a:solidFill>
                <a:latin typeface="Arial"/>
              </a:defRPr>
            </a:pPr>
            <a:r>
              <a:t>Weighted prevalence &amp; co-occurrence matrix math</a:t>
            </a:r>
          </a:p>
          <a:p>
            <a:pPr>
              <a:defRPr sz="1200" b="1">
                <a:solidFill>
                  <a:srgbClr val="10B981"/>
                </a:solidFill>
                <a:latin typeface="Arial"/>
              </a:defRPr>
            </a:pPr>
            <a:r>
              <a:t>➔ 5 Agg Insights</a:t>
            </a:r>
          </a:p>
        </p:txBody>
      </p:sp>
      <p:sp>
        <p:nvSpPr>
          <p:cNvPr id="9" name="Rectangle 8"/>
          <p:cNvSpPr/>
          <p:nvPr/>
        </p:nvSpPr>
        <p:spPr>
          <a:xfrm>
            <a:off x="9354312" y="1645920"/>
            <a:ext cx="2011680" cy="41148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lIns="164592" tIns="228600" rIns="164592"/>
          <a:lstStyle/>
          <a:p>
            <a:pPr algn="ctr">
              <a:spcAft>
                <a:spcPts val="600"/>
              </a:spcAft>
              <a:defRPr sz="1300" b="1">
                <a:solidFill>
                  <a:srgbClr val="8B5CF6"/>
                </a:solidFill>
                <a:latin typeface="Arial"/>
              </a:defRPr>
            </a:pPr>
            <a:r>
              <a:t>Phase 5</a:t>
            </a:r>
          </a:p>
          <a:p>
            <a:pPr>
              <a:spcAft>
                <a:spcPts val="1400"/>
              </a:spcAft>
              <a:defRPr sz="1600" b="1">
                <a:solidFill>
                  <a:srgbClr val="F8FAFC"/>
                </a:solidFill>
                <a:latin typeface="Arial"/>
              </a:defRPr>
            </a:pPr>
            <a:r>
              <a:t>Interactive Dashboard</a:t>
            </a:r>
          </a:p>
          <a:p>
            <a:pPr>
              <a:spcAft>
                <a:spcPts val="1400"/>
              </a:spcAft>
              <a:defRPr sz="1100">
                <a:solidFill>
                  <a:srgbClr val="94A3B8"/>
                </a:solidFill>
                <a:latin typeface="Arial"/>
              </a:defRPr>
            </a:pPr>
            <a:r>
              <a:t>Sleek Streamlit viz &amp; RO SQLite explorer</a:t>
            </a:r>
          </a:p>
          <a:p>
            <a:pPr>
              <a:defRPr sz="1200" b="1">
                <a:solidFill>
                  <a:srgbClr val="10B981"/>
                </a:solidFill>
                <a:latin typeface="Arial"/>
              </a:defRPr>
            </a:pPr>
            <a:r>
              <a:t>➔ Live Public 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DATA INGESTION</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Phase 1: Data Collection Process</a:t>
            </a:r>
          </a:p>
        </p:txBody>
      </p:sp>
      <p:sp>
        <p:nvSpPr>
          <p:cNvPr id="5" name="TextBox 4"/>
          <p:cNvSpPr txBox="1"/>
          <p:nvPr/>
        </p:nvSpPr>
        <p:spPr>
          <a:xfrm>
            <a:off x="685800" y="1645920"/>
            <a:ext cx="5303520" cy="4389120"/>
          </a:xfrm>
          <a:prstGeom prst="rect">
            <a:avLst/>
          </a:prstGeom>
          <a:noFill/>
        </p:spPr>
        <p:txBody>
          <a:bodyPr wrap="square" lIns="0" tIns="0" rIns="0" bIns="0">
            <a:spAutoFit/>
          </a:bodyPr>
          <a:lstStyle/>
          <a:p>
            <a:pPr>
              <a:spcAft>
                <a:spcPts val="1200"/>
              </a:spcAft>
              <a:defRPr sz="2000" b="1">
                <a:solidFill>
                  <a:srgbClr val="3B82F6"/>
                </a:solidFill>
                <a:latin typeface="Arial"/>
              </a:defRPr>
            </a:pPr>
            <a:r>
              <a:t>High-Performance Browser Automation</a:t>
            </a:r>
          </a:p>
          <a:p>
            <a:pPr>
              <a:spcAft>
                <a:spcPts val="1000"/>
              </a:spcAft>
              <a:defRPr sz="1300">
                <a:solidFill>
                  <a:srgbClr val="F8FAFC"/>
                </a:solidFill>
                <a:latin typeface="Arial"/>
              </a:defRPr>
            </a:pPr>
            <a:r>
              <a:t>• Sourced from old.reddit.com to bypass heavy modern React payloads, lowering processing overhead and increasing ingestion speeds.</a:t>
            </a:r>
          </a:p>
          <a:p>
            <a:pPr>
              <a:spcAft>
                <a:spcPts val="1000"/>
              </a:spcAft>
              <a:defRPr sz="1300">
                <a:solidFill>
                  <a:srgbClr val="F8FAFC"/>
                </a:solidFill>
                <a:latin typeface="Arial"/>
              </a:defRPr>
            </a:pPr>
            <a:r>
              <a:t>• Bypassed Reddit API rate limits using Playwright browser automation with sandboxed headless Chromium orchestration.</a:t>
            </a:r>
          </a:p>
          <a:p>
            <a:pPr>
              <a:spcAft>
                <a:spcPts val="1000"/>
              </a:spcAft>
              <a:defRPr sz="1300">
                <a:solidFill>
                  <a:srgbClr val="F8FAFC"/>
                </a:solidFill>
                <a:latin typeface="Arial"/>
              </a:defRPr>
            </a:pPr>
            <a:r>
              <a:t>• Suppressed non-critical elements (CSS stylesheets, images, tracking scripts, and ads) to lower bandwidth demands.</a:t>
            </a:r>
          </a:p>
          <a:p>
            <a:pPr>
              <a:spcAft>
                <a:spcPts val="1000"/>
              </a:spcAft>
              <a:defRPr sz="1300">
                <a:solidFill>
                  <a:srgbClr val="F8FAFC"/>
                </a:solidFill>
                <a:latin typeface="Arial"/>
              </a:defRPr>
            </a:pPr>
            <a:r>
              <a:t>• Structured query searches covering 'trust', 'hallucinate', 'wrong', 'consequence', and 'certain' across a 9-month chronological window.</a:t>
            </a:r>
          </a:p>
          <a:p>
            <a:pPr>
              <a:spcAft>
                <a:spcPts val="1000"/>
              </a:spcAft>
              <a:defRPr sz="1300">
                <a:solidFill>
                  <a:srgbClr val="F8FAFC"/>
                </a:solidFill>
                <a:latin typeface="Arial"/>
              </a:defRPr>
            </a:pPr>
            <a:r>
              <a:t>• Enforced a unique primary-key mapping constraint on thread IDs to automatically deduplicate overlapping results.</a:t>
            </a:r>
          </a:p>
        </p:txBody>
      </p:sp>
      <p:sp>
        <p:nvSpPr>
          <p:cNvPr id="6" name="Rectangle 5"/>
          <p:cNvSpPr/>
          <p:nvPr/>
        </p:nvSpPr>
        <p:spPr>
          <a:xfrm>
            <a:off x="6400800" y="1645920"/>
            <a:ext cx="5029200" cy="4114800"/>
          </a:xfrm>
          <a:prstGeom prst="rect">
            <a:avLst/>
          </a:prstGeom>
          <a:solidFill>
            <a:srgbClr val="111827"/>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400"/>
              </a:spcAft>
              <a:defRPr sz="2000" b="1">
                <a:solidFill>
                  <a:srgbClr val="8B5CF6"/>
                </a:solidFill>
                <a:latin typeface="Arial"/>
              </a:defRPr>
            </a:pPr>
            <a:r>
              <a:t>Ingestion Statistics</a:t>
            </a:r>
          </a:p>
          <a:p>
            <a:pPr>
              <a:spcAft>
                <a:spcPts val="1200"/>
              </a:spcAft>
              <a:defRPr sz="1300" b="1">
                <a:solidFill>
                  <a:srgbClr val="F8FAFC"/>
                </a:solidFill>
                <a:latin typeface="Arial"/>
              </a:defRPr>
            </a:pPr>
            <a:r>
              <a:t>• Target Subreddit: </a:t>
            </a:r>
            <a:r>
              <a:rPr b="0">
                <a:solidFill>
                  <a:srgbClr val="94A3B8"/>
                </a:solidFill>
              </a:rPr>
              <a:t>r/ChatGPT (Largest centralized user group)</a:t>
            </a:r>
          </a:p>
          <a:p>
            <a:pPr>
              <a:spcAft>
                <a:spcPts val="1200"/>
              </a:spcAft>
              <a:defRPr sz="1300" b="1">
                <a:solidFill>
                  <a:srgbClr val="F8FAFC"/>
                </a:solidFill>
                <a:latin typeface="Arial"/>
              </a:defRPr>
            </a:pPr>
            <a:r>
              <a:t>• Ingestion Query Sweeps: </a:t>
            </a:r>
            <a:r>
              <a:rPr b="0">
                <a:solidFill>
                  <a:srgbClr val="94A3B8"/>
                </a:solidFill>
              </a:rPr>
              <a:t>8 unique keyword query scripts</a:t>
            </a:r>
          </a:p>
          <a:p>
            <a:pPr>
              <a:spcAft>
                <a:spcPts val="1200"/>
              </a:spcAft>
              <a:defRPr sz="1300" b="1">
                <a:solidFill>
                  <a:srgbClr val="F8FAFC"/>
                </a:solidFill>
                <a:latin typeface="Arial"/>
              </a:defRPr>
            </a:pPr>
            <a:r>
              <a:t>• Raw Scraped Records: </a:t>
            </a:r>
            <a:r>
              <a:rPr b="0">
                <a:solidFill>
                  <a:srgbClr val="94A3B8"/>
                </a:solidFill>
              </a:rPr>
              <a:t>1,091 threads</a:t>
            </a:r>
          </a:p>
          <a:p>
            <a:pPr>
              <a:spcAft>
                <a:spcPts val="1200"/>
              </a:spcAft>
              <a:defRPr sz="1300" b="1">
                <a:solidFill>
                  <a:srgbClr val="F8FAFC"/>
                </a:solidFill>
                <a:latin typeface="Arial"/>
              </a:defRPr>
            </a:pPr>
            <a:r>
              <a:t>• Deduplicated Unique Records: </a:t>
            </a:r>
            <a:r>
              <a:rPr b="0">
                <a:solidFill>
                  <a:srgbClr val="94A3B8"/>
                </a:solidFill>
              </a:rPr>
              <a:t>1,091 threads</a:t>
            </a:r>
          </a:p>
          <a:p>
            <a:pPr>
              <a:spcAft>
                <a:spcPts val="1200"/>
              </a:spcAft>
              <a:defRPr sz="1300" b="1">
                <a:solidFill>
                  <a:srgbClr val="F8FAFC"/>
                </a:solidFill>
                <a:latin typeface="Arial"/>
              </a:defRPr>
            </a:pPr>
            <a:r>
              <a:t>• Dataset Size (raw): </a:t>
            </a:r>
            <a:r>
              <a:rPr b="0">
                <a:solidFill>
                  <a:srgbClr val="94A3B8"/>
                </a:solidFill>
              </a:rPr>
              <a:t>Posts JSON + manifest locked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PROCESSING METRICS</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Dataset Statistics &amp; Processing Funnel</a:t>
            </a:r>
          </a:p>
        </p:txBody>
      </p:sp>
      <p:sp>
        <p:nvSpPr>
          <p:cNvPr id="5" name="Rectangle 4"/>
          <p:cNvSpPr/>
          <p:nvPr/>
        </p:nvSpPr>
        <p:spPr>
          <a:xfrm>
            <a:off x="685800" y="1645920"/>
            <a:ext cx="3383280" cy="4114800"/>
          </a:xfrm>
          <a:prstGeom prst="rect">
            <a:avLst/>
          </a:prstGeom>
          <a:solidFill>
            <a:srgbClr val="111827"/>
          </a:solidFill>
          <a:ln w="317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rIns="274320"/>
          <a:lstStyle/>
          <a:p>
            <a:pPr algn="ctr">
              <a:spcAft>
                <a:spcPts val="1000"/>
              </a:spcAft>
              <a:defRPr sz="1300" b="1">
                <a:solidFill>
                  <a:srgbClr val="94A3B8"/>
                </a:solidFill>
                <a:latin typeface="Arial"/>
              </a:defRPr>
            </a:pPr>
            <a:r>
              <a:t>STAGE 1: RAW INGESTION</a:t>
            </a:r>
          </a:p>
          <a:p>
            <a:pPr>
              <a:defRPr sz="4400" b="1">
                <a:solidFill>
                  <a:srgbClr val="3B82F6"/>
                </a:solidFill>
                <a:latin typeface="Arial"/>
              </a:defRPr>
            </a:pPr>
            <a:r>
              <a:t>1,091</a:t>
            </a:r>
          </a:p>
          <a:p>
            <a:pPr>
              <a:spcAft>
                <a:spcPts val="1400"/>
              </a:spcAft>
              <a:defRPr sz="1400" b="1">
                <a:solidFill>
                  <a:srgbClr val="F8FAFC"/>
                </a:solidFill>
                <a:latin typeface="Arial"/>
              </a:defRPr>
            </a:pPr>
            <a:r>
              <a:t>100.0% of Corpus</a:t>
            </a:r>
          </a:p>
          <a:p>
            <a:pPr>
              <a:lnSpc>
                <a:spcPct val="120000"/>
              </a:lnSpc>
              <a:defRPr sz="1300">
                <a:solidFill>
                  <a:srgbClr val="94A3B8"/>
                </a:solidFill>
                <a:latin typeface="Arial"/>
              </a:defRPr>
            </a:pPr>
            <a:r>
              <a:t>All raw posts scraped via Playwright query searches. Deduplicated and locked to establish an authoritative research dataset.</a:t>
            </a:r>
          </a:p>
        </p:txBody>
      </p:sp>
      <p:sp>
        <p:nvSpPr>
          <p:cNvPr id="6" name="Rectangle 5"/>
          <p:cNvSpPr/>
          <p:nvPr/>
        </p:nvSpPr>
        <p:spPr>
          <a:xfrm>
            <a:off x="4343400" y="1645920"/>
            <a:ext cx="3383280" cy="4114800"/>
          </a:xfrm>
          <a:prstGeom prst="rect">
            <a:avLst/>
          </a:prstGeom>
          <a:solidFill>
            <a:srgbClr val="111827"/>
          </a:solidFill>
          <a:ln w="317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rIns="274320"/>
          <a:lstStyle/>
          <a:p>
            <a:pPr algn="ctr">
              <a:spcAft>
                <a:spcPts val="1000"/>
              </a:spcAft>
              <a:defRPr sz="1300" b="1">
                <a:solidFill>
                  <a:srgbClr val="94A3B8"/>
                </a:solidFill>
                <a:latin typeface="Arial"/>
              </a:defRPr>
            </a:pPr>
            <a:r>
              <a:t>STAGE 2: HEURISTIC SCREENING</a:t>
            </a:r>
          </a:p>
          <a:p>
            <a:pPr>
              <a:defRPr sz="4400" b="1">
                <a:solidFill>
                  <a:srgbClr val="8B5CF6"/>
                </a:solidFill>
                <a:latin typeface="Arial"/>
              </a:defRPr>
            </a:pPr>
            <a:r>
              <a:t>729</a:t>
            </a:r>
          </a:p>
          <a:p>
            <a:pPr>
              <a:spcAft>
                <a:spcPts val="1400"/>
              </a:spcAft>
              <a:defRPr sz="1400" b="1">
                <a:solidFill>
                  <a:srgbClr val="F8FAFC"/>
                </a:solidFill>
                <a:latin typeface="Arial"/>
              </a:defRPr>
            </a:pPr>
            <a:r>
              <a:t>66.8% Retention</a:t>
            </a:r>
          </a:p>
          <a:p>
            <a:pPr>
              <a:lnSpc>
                <a:spcPct val="120000"/>
              </a:lnSpc>
              <a:defRPr sz="1300">
                <a:solidFill>
                  <a:srgbClr val="94A3B8"/>
                </a:solidFill>
                <a:latin typeface="Arial"/>
              </a:defRPr>
            </a:pPr>
            <a:r>
              <a:t>Deterministic keyword density and upvote screening in Phase 2. Removed empty threads and low-engagement noise.</a:t>
            </a:r>
          </a:p>
        </p:txBody>
      </p:sp>
      <p:sp>
        <p:nvSpPr>
          <p:cNvPr id="7" name="Rectangle 6"/>
          <p:cNvSpPr/>
          <p:nvPr/>
        </p:nvSpPr>
        <p:spPr>
          <a:xfrm>
            <a:off x="8001000" y="1645920"/>
            <a:ext cx="3383280" cy="4114800"/>
          </a:xfrm>
          <a:prstGeom prst="rect">
            <a:avLst/>
          </a:prstGeom>
          <a:solidFill>
            <a:srgbClr val="111827"/>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320040" rIns="274320"/>
          <a:lstStyle/>
          <a:p>
            <a:pPr algn="ctr">
              <a:spcAft>
                <a:spcPts val="1000"/>
              </a:spcAft>
              <a:defRPr sz="1300" b="1">
                <a:solidFill>
                  <a:srgbClr val="94A3B8"/>
                </a:solidFill>
                <a:latin typeface="Arial"/>
              </a:defRPr>
            </a:pPr>
            <a:r>
              <a:t>STAGE 3: CONFIRMED RELEVANT</a:t>
            </a:r>
          </a:p>
          <a:p>
            <a:pPr>
              <a:defRPr sz="4400" b="1">
                <a:solidFill>
                  <a:srgbClr val="10B981"/>
                </a:solidFill>
                <a:latin typeface="Arial"/>
              </a:defRPr>
            </a:pPr>
            <a:r>
              <a:t>594</a:t>
            </a:r>
          </a:p>
          <a:p>
            <a:pPr>
              <a:spcAft>
                <a:spcPts val="1400"/>
              </a:spcAft>
              <a:defRPr sz="1400" b="1">
                <a:solidFill>
                  <a:srgbClr val="F8FAFC"/>
                </a:solidFill>
                <a:latin typeface="Arial"/>
              </a:defRPr>
            </a:pPr>
            <a:r>
              <a:t>54.4% Pipeline Yield</a:t>
            </a:r>
          </a:p>
          <a:p>
            <a:pPr>
              <a:lnSpc>
                <a:spcPct val="120000"/>
              </a:lnSpc>
              <a:defRPr sz="1300">
                <a:solidFill>
                  <a:srgbClr val="94A3B8"/>
                </a:solidFill>
                <a:latin typeface="Arial"/>
              </a:defRPr>
            </a:pPr>
            <a:r>
              <a:t>Stage 1 semantic relevance confirmed by Llama 3.1 8B. Established final curated sqlite database (data/research.db).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TAXONOMY AUDIT</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Theme Taxonomy Evolution</a:t>
            </a:r>
          </a:p>
        </p:txBody>
      </p:sp>
      <p:sp>
        <p:nvSpPr>
          <p:cNvPr id="5" name="TextBox 4"/>
          <p:cNvSpPr txBox="1"/>
          <p:nvPr/>
        </p:nvSpPr>
        <p:spPr>
          <a:xfrm>
            <a:off x="685800" y="1645920"/>
            <a:ext cx="5303520" cy="4389120"/>
          </a:xfrm>
          <a:prstGeom prst="rect">
            <a:avLst/>
          </a:prstGeom>
          <a:noFill/>
        </p:spPr>
        <p:txBody>
          <a:bodyPr wrap="square" lIns="0" tIns="0" rIns="0" bIns="0">
            <a:spAutoFit/>
          </a:bodyPr>
          <a:lstStyle/>
          <a:p>
            <a:pPr>
              <a:spcAft>
                <a:spcPts val="1200"/>
              </a:spcAft>
              <a:defRPr sz="2000" b="1">
                <a:solidFill>
                  <a:srgbClr val="3B82F6"/>
                </a:solidFill>
                <a:latin typeface="Arial"/>
              </a:defRPr>
            </a:pPr>
            <a:r>
              <a:t>From Technical Outputs to PM-Centric Themes</a:t>
            </a:r>
          </a:p>
          <a:p>
            <a:pPr>
              <a:spcAft>
                <a:spcPts val="1200"/>
              </a:spcAft>
              <a:defRPr sz="1300">
                <a:solidFill>
                  <a:srgbClr val="F8FAFC"/>
                </a:solidFill>
                <a:latin typeface="Arial"/>
              </a:defRPr>
            </a:pPr>
            <a:r>
              <a:t>• Primitive technical taxonomy centered on abstract model behaviors (e.g. 'hallucinations', 'sycophancy') which isolated findings from user contexts.</a:t>
            </a:r>
          </a:p>
          <a:p>
            <a:pPr>
              <a:spcAft>
                <a:spcPts val="1200"/>
              </a:spcAft>
              <a:defRPr sz="1300">
                <a:solidFill>
                  <a:srgbClr val="F8FAFC"/>
                </a:solidFill>
                <a:latin typeface="Arial"/>
              </a:defRPr>
            </a:pPr>
            <a:r>
              <a:t>• Refinement process evolved categories into PM-aligned, human-centric themes that map direct Downstream Down consequences.</a:t>
            </a:r>
          </a:p>
          <a:p>
            <a:pPr>
              <a:spcAft>
                <a:spcPts val="1200"/>
              </a:spcAft>
              <a:defRPr sz="1300">
                <a:solidFill>
                  <a:srgbClr val="F8FAFC"/>
                </a:solidFill>
                <a:latin typeface="Arial"/>
              </a:defRPr>
            </a:pPr>
            <a:r>
              <a:t>• Focus shifted from model errors alone to capturing user calibration, psychological attachment, and custom verification heuristics.</a:t>
            </a:r>
          </a:p>
          <a:p>
            <a:pPr>
              <a:spcAft>
                <a:spcPts val="1200"/>
              </a:spcAft>
              <a:defRPr sz="1300">
                <a:solidFill>
                  <a:srgbClr val="F8FAFC"/>
                </a:solidFill>
                <a:latin typeface="Arial"/>
              </a:defRPr>
            </a:pPr>
            <a:r>
              <a:t>• The evolved taxonomy maps the entire user journey: from machine failure, emotional reaction, auditing, and real-world consequences.</a:t>
            </a:r>
          </a:p>
        </p:txBody>
      </p:sp>
      <p:sp>
        <p:nvSpPr>
          <p:cNvPr id="6" name="Rectangle 5"/>
          <p:cNvSpPr/>
          <p:nvPr/>
        </p:nvSpPr>
        <p:spPr>
          <a:xfrm>
            <a:off x="6400800" y="1645920"/>
            <a:ext cx="5029200" cy="4114800"/>
          </a:xfrm>
          <a:prstGeom prst="rect">
            <a:avLst/>
          </a:prstGeom>
          <a:solidFill>
            <a:srgbClr val="111827"/>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320040" tIns="320040" rIns="320040"/>
          <a:lstStyle/>
          <a:p>
            <a:pPr algn="ctr">
              <a:spcAft>
                <a:spcPts val="1400"/>
              </a:spcAft>
              <a:defRPr sz="1800" b="1">
                <a:solidFill>
                  <a:srgbClr val="8B5CF6"/>
                </a:solidFill>
                <a:latin typeface="Arial"/>
              </a:defRPr>
            </a:pPr>
            <a:r>
              <a:t>Taxonomy Migration Map</a:t>
            </a:r>
          </a:p>
          <a:p>
            <a:pPr>
              <a:spcAft>
                <a:spcPts val="800"/>
              </a:spcAft>
              <a:defRPr sz="1100">
                <a:solidFill>
                  <a:srgbClr val="94A3B8"/>
                </a:solidFill>
                <a:latin typeface="Courier New"/>
              </a:defRPr>
            </a:pPr>
            <a:r>
              <a:t>• `hallucination_instances`  ➔  </a:t>
            </a:r>
            <a:r>
              <a:rPr b="1" sz="1300">
                <a:solidFill>
                  <a:srgbClr val="F8FAFC"/>
                </a:solidFill>
                <a:latin typeface="Arial"/>
              </a:rPr>
              <a:t>Confidently Incorrect Outputs</a:t>
            </a:r>
          </a:p>
          <a:p>
            <a:pPr>
              <a:spcAft>
                <a:spcPts val="800"/>
              </a:spcAft>
              <a:defRPr sz="1100">
                <a:solidFill>
                  <a:srgbClr val="94A3B8"/>
                </a:solidFill>
                <a:latin typeface="Courier New"/>
              </a:defRPr>
            </a:pPr>
            <a:r>
              <a:t>• `trust_erosion`  ➔  </a:t>
            </a:r>
            <a:r>
              <a:rPr b="1" sz="1300">
                <a:solidFill>
                  <a:srgbClr val="F8FAFC"/>
                </a:solidFill>
                <a:latin typeface="Arial"/>
              </a:rPr>
              <a:t>User Trust Breakdown</a:t>
            </a:r>
          </a:p>
          <a:p>
            <a:pPr>
              <a:spcAft>
                <a:spcPts val="800"/>
              </a:spcAft>
              <a:defRPr sz="1100">
                <a:solidFill>
                  <a:srgbClr val="94A3B8"/>
                </a:solidFill>
                <a:latin typeface="Courier New"/>
              </a:defRPr>
            </a:pPr>
            <a:r>
              <a:t>• `companionship_attachment`  ➔  </a:t>
            </a:r>
            <a:r>
              <a:rPr b="1" sz="1300">
                <a:solidFill>
                  <a:srgbClr val="F8FAFC"/>
                </a:solidFill>
                <a:latin typeface="Arial"/>
              </a:rPr>
              <a:t>Over-Reliance on AI Outputs</a:t>
            </a:r>
          </a:p>
          <a:p>
            <a:pPr>
              <a:spcAft>
                <a:spcPts val="800"/>
              </a:spcAft>
              <a:defRPr sz="1100">
                <a:solidFill>
                  <a:srgbClr val="94A3B8"/>
                </a:solidFill>
                <a:latin typeface="Courier New"/>
              </a:defRPr>
            </a:pPr>
            <a:r>
              <a:t>• `fact_checking_behavior`  ➔  </a:t>
            </a:r>
            <a:r>
              <a:rPr b="1" sz="1300">
                <a:solidFill>
                  <a:srgbClr val="F8FAFC"/>
                </a:solidFill>
                <a:latin typeface="Arial"/>
              </a:rPr>
              <a:t>User Verification Behavior</a:t>
            </a:r>
          </a:p>
          <a:p>
            <a:pPr>
              <a:spcAft>
                <a:spcPts val="800"/>
              </a:spcAft>
              <a:defRPr sz="1100">
                <a:solidFill>
                  <a:srgbClr val="94A3B8"/>
                </a:solidFill>
                <a:latin typeface="Courier New"/>
              </a:defRPr>
            </a:pPr>
            <a:r>
              <a:t>• `consequential_outcomes`  ➔  </a:t>
            </a:r>
            <a:r>
              <a:rPr b="1" sz="1300">
                <a:solidFill>
                  <a:srgbClr val="F8FAFC"/>
                </a:solidFill>
                <a:latin typeface="Arial"/>
              </a:rPr>
              <a:t>Real-World Impact of AI</a:t>
            </a:r>
          </a:p>
          <a:p>
            <a:pPr>
              <a:spcAft>
                <a:spcPts val="800"/>
              </a:spcAft>
              <a:defRPr sz="1100">
                <a:solidFill>
                  <a:srgbClr val="94A3B8"/>
                </a:solidFill>
                <a:latin typeface="Courier New"/>
              </a:defRPr>
            </a:pPr>
            <a:r>
              <a:t>• `sycophancy_persuasion`  ➔  </a:t>
            </a:r>
            <a:r>
              <a:rPr b="1" sz="1300">
                <a:solidFill>
                  <a:srgbClr val="F8FAFC"/>
                </a:solidFill>
                <a:latin typeface="Arial"/>
              </a:rPr>
              <a:t>Persuasive Outputs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PREVALENCE ANALYSIS</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Research Results: Theme Prevalence</a:t>
            </a:r>
          </a:p>
        </p:txBody>
      </p:sp>
      <p:sp>
        <p:nvSpPr>
          <p:cNvPr id="5" name="TextBox 4"/>
          <p:cNvSpPr txBox="1"/>
          <p:nvPr/>
        </p:nvSpPr>
        <p:spPr>
          <a:xfrm>
            <a:off x="685800" y="1645920"/>
            <a:ext cx="6217920" cy="4389120"/>
          </a:xfrm>
          <a:prstGeom prst="rect">
            <a:avLst/>
          </a:prstGeom>
          <a:noFill/>
        </p:spPr>
        <p:txBody>
          <a:bodyPr wrap="square" lIns="0" tIns="0" rIns="0" bIns="0">
            <a:spAutoFit/>
          </a:bodyPr>
          <a:lstStyle/>
          <a:p>
            <a:pPr>
              <a:spcAft>
                <a:spcPts val="1200"/>
              </a:spcAft>
              <a:defRPr sz="1800" b="1">
                <a:solidFill>
                  <a:srgbClr val="3B82F6"/>
                </a:solidFill>
                <a:latin typeface="Arial"/>
              </a:defRPr>
            </a:pPr>
            <a:r>
              <a:t>Quantitative Theme Distribution (Total: 594 Posts)</a:t>
            </a:r>
          </a:p>
          <a:p>
            <a:pPr>
              <a:spcAft>
                <a:spcPts val="600"/>
              </a:spcAft>
              <a:defRPr b="1" sz="1100">
                <a:solidFill>
                  <a:srgbClr val="8B5CF6"/>
                </a:solidFill>
                <a:latin typeface="Courier New"/>
              </a:defRPr>
            </a:pPr>
            <a:r>
              <a:t>Research Theme                         | Raw (%)    | Weighted (%)</a:t>
            </a:r>
          </a:p>
          <a:p>
            <a:pPr>
              <a:spcAft>
                <a:spcPts val="800"/>
              </a:spcAft>
              <a:defRPr sz="1100">
                <a:solidFill>
                  <a:srgbClr val="F8FAFC"/>
                </a:solidFill>
                <a:latin typeface="Courier New"/>
              </a:defRPr>
            </a:pPr>
            <a:r>
              <a:t>Confidently Incorrect Outputs          | 185 (31.14%) | 292.9 (24.31%)</a:t>
            </a:r>
          </a:p>
          <a:p>
            <a:pPr>
              <a:spcAft>
                <a:spcPts val="800"/>
              </a:spcAft>
              <a:defRPr sz="1100">
                <a:solidFill>
                  <a:srgbClr val="F8FAFC"/>
                </a:solidFill>
                <a:latin typeface="Courier New"/>
              </a:defRPr>
            </a:pPr>
            <a:r>
              <a:t>Real-World Impact of AI Outputs        | 131 (22.05%) | 318.1 (26.40%)</a:t>
            </a:r>
          </a:p>
          <a:p>
            <a:pPr>
              <a:spcAft>
                <a:spcPts val="800"/>
              </a:spcAft>
              <a:defRPr sz="1100">
                <a:solidFill>
                  <a:srgbClr val="F8FAFC"/>
                </a:solidFill>
                <a:latin typeface="Courier New"/>
              </a:defRPr>
            </a:pPr>
            <a:r>
              <a:t>User Evaluation &amp; Verification Behavior | 87  (14.65%) | 115.8 (9.61% )</a:t>
            </a:r>
          </a:p>
          <a:p>
            <a:pPr>
              <a:spcAft>
                <a:spcPts val="800"/>
              </a:spcAft>
              <a:defRPr sz="1100">
                <a:solidFill>
                  <a:srgbClr val="F8FAFC"/>
                </a:solidFill>
                <a:latin typeface="Courier New"/>
              </a:defRPr>
            </a:pPr>
            <a:r>
              <a:t>Over-Reliance on AI Outputs            | 73  (12.29%) | 156.5 (12.99%)</a:t>
            </a:r>
          </a:p>
          <a:p>
            <a:pPr>
              <a:spcAft>
                <a:spcPts val="800"/>
              </a:spcAft>
              <a:defRPr sz="1100">
                <a:solidFill>
                  <a:srgbClr val="F8FAFC"/>
                </a:solidFill>
                <a:latin typeface="Courier New"/>
              </a:defRPr>
            </a:pPr>
            <a:r>
              <a:t>User Trust Breakdown                   | 72  (12.12%) | 222.3 (18.45%)</a:t>
            </a:r>
          </a:p>
          <a:p>
            <a:pPr>
              <a:spcAft>
                <a:spcPts val="800"/>
              </a:spcAft>
              <a:defRPr sz="1100">
                <a:solidFill>
                  <a:srgbClr val="F8FAFC"/>
                </a:solidFill>
                <a:latin typeface="Courier New"/>
              </a:defRPr>
            </a:pPr>
            <a:r>
              <a:t>Persuasive Outputs &amp; Trust Formation   | 46  (7.74% ) | 99.4  (8.25% )</a:t>
            </a:r>
          </a:p>
        </p:txBody>
      </p:sp>
      <p:sp>
        <p:nvSpPr>
          <p:cNvPr id="6" name="TextBox 5"/>
          <p:cNvSpPr txBox="1"/>
          <p:nvPr/>
        </p:nvSpPr>
        <p:spPr>
          <a:xfrm>
            <a:off x="7132320" y="1645920"/>
            <a:ext cx="4373575" cy="4389120"/>
          </a:xfrm>
          <a:prstGeom prst="rect">
            <a:avLst/>
          </a:prstGeom>
          <a:noFill/>
        </p:spPr>
        <p:txBody>
          <a:bodyPr wrap="square" lIns="0" tIns="0" rIns="0" bIns="0">
            <a:spAutoFit/>
          </a:bodyPr>
          <a:lstStyle/>
          <a:p>
            <a:pPr>
              <a:spcAft>
                <a:spcPts val="1200"/>
              </a:spcAft>
              <a:defRPr sz="1800" b="1">
                <a:solidFill>
                  <a:srgbClr val="8B5CF6"/>
                </a:solidFill>
                <a:latin typeface="Arial"/>
              </a:defRPr>
            </a:pPr>
            <a:r>
              <a:t>The Prevalence Paradox</a:t>
            </a:r>
          </a:p>
          <a:p>
            <a:pPr>
              <a:spcAft>
                <a:spcPts val="1400"/>
              </a:spcAft>
              <a:defRPr sz="1300" i="1">
                <a:solidFill>
                  <a:srgbClr val="F8FAFC"/>
                </a:solidFill>
                <a:latin typeface="Arial"/>
              </a:defRPr>
            </a:pPr>
            <a:r>
              <a:t>While Confidently Incorrect Outputs occur most frequently in raw numbers (31.14%), Real-World Impact drives the highest engagement and viral attention share (26.40% weighted prevalence).</a:t>
            </a:r>
          </a:p>
          <a:p>
            <a:pPr>
              <a:spcAft>
                <a:spcPts val="1000"/>
              </a:spcAft>
              <a:defRPr sz="1300">
                <a:solidFill>
                  <a:srgbClr val="94A3B8"/>
                </a:solidFill>
                <a:latin typeface="Arial"/>
              </a:defRPr>
            </a:pPr>
            <a:r>
              <a:t>• Minor factual errors occur constantly in day-to-day work.</a:t>
            </a:r>
          </a:p>
          <a:p>
            <a:pPr>
              <a:spcAft>
                <a:spcPts val="1000"/>
              </a:spcAft>
              <a:defRPr sz="1300">
                <a:solidFill>
                  <a:srgbClr val="94A3B8"/>
                </a:solidFill>
                <a:latin typeface="Arial"/>
              </a:defRPr>
            </a:pPr>
            <a:r>
              <a:t>• Users are disproportionately motivated to document and discuss severe consequences ( probate audit fraud, veterinary blood panels, legal disbarment warnings).</a:t>
            </a:r>
          </a:p>
          <a:p>
            <a:pPr>
              <a:spcAft>
                <a:spcPts val="1000"/>
              </a:spcAft>
              <a:defRPr sz="1300">
                <a:solidFill>
                  <a:srgbClr val="94A3B8"/>
                </a:solidFill>
                <a:latin typeface="Arial"/>
              </a:defRPr>
            </a:pPr>
            <a:r>
              <a:t>• Weighted count adjusts for community engagement via ln(1 + max(score,0)) to show real community resonance.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RISK ASSESSMENT</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Risk Profiles: Severity Analysis</a:t>
            </a:r>
          </a:p>
        </p:txBody>
      </p:sp>
      <p:sp>
        <p:nvSpPr>
          <p:cNvPr id="5" name="Rectangle 4"/>
          <p:cNvSpPr/>
          <p:nvPr/>
        </p:nvSpPr>
        <p:spPr>
          <a:xfrm>
            <a:off x="685800" y="1645920"/>
            <a:ext cx="3383280" cy="4114800"/>
          </a:xfrm>
          <a:prstGeom prst="rect">
            <a:avLst/>
          </a:prstGeom>
          <a:solidFill>
            <a:srgbClr val="111827"/>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400"/>
              </a:spcAft>
              <a:defRPr sz="1400" b="1">
                <a:solidFill>
                  <a:srgbClr val="10B981"/>
                </a:solidFill>
                <a:latin typeface="Arial"/>
              </a:defRPr>
            </a:pPr>
            <a:r>
              <a:t>LOW SEVERITY PROFILE</a:t>
            </a:r>
          </a:p>
          <a:p>
            <a:pPr>
              <a:spcAft>
                <a:spcPts val="1400"/>
              </a:spcAft>
              <a:defRPr sz="1200" b="1">
                <a:solidFill>
                  <a:srgbClr val="F8FAFC"/>
                </a:solidFill>
                <a:latin typeface="Arial"/>
              </a:defRPr>
            </a:pPr>
            <a:r>
              <a:t>General Annoyances &amp; Jokes</a:t>
            </a:r>
          </a:p>
          <a:p>
            <a:pPr>
              <a:spcAft>
                <a:spcPts val="800"/>
              </a:spcAft>
              <a:defRPr sz="1050">
                <a:solidFill>
                  <a:srgbClr val="94A3B8"/>
                </a:solidFill>
                <a:latin typeface="Arial"/>
              </a:defRPr>
            </a:pPr>
            <a:r>
              <a:t>• Minor conversational mistakes, code syntax slips, or general chatbot humor.</a:t>
            </a:r>
          </a:p>
          <a:p>
            <a:pPr>
              <a:spcAft>
                <a:spcPts val="800"/>
              </a:spcAft>
              <a:defRPr sz="1050">
                <a:solidFill>
                  <a:srgbClr val="94A3B8"/>
                </a:solidFill>
                <a:latin typeface="Arial"/>
              </a:defRPr>
            </a:pPr>
            <a:r>
              <a:t>• Minimal real-world friction; resolved instantly by standard user prompting.</a:t>
            </a:r>
          </a:p>
          <a:p>
            <a:pPr>
              <a:spcAft>
                <a:spcPts val="800"/>
              </a:spcAft>
              <a:defRPr sz="1050">
                <a:solidFill>
                  <a:srgbClr val="94A3B8"/>
                </a:solidFill>
                <a:latin typeface="Arial"/>
              </a:defRPr>
            </a:pPr>
            <a:r>
              <a:t>• No direct downstream consequences or lost time recorded.</a:t>
            </a:r>
          </a:p>
          <a:p>
            <a:pPr>
              <a:spcAft>
                <a:spcPts val="800"/>
              </a:spcAft>
              <a:defRPr sz="1050">
                <a:solidFill>
                  <a:srgbClr val="94A3B8"/>
                </a:solidFill>
                <a:latin typeface="Arial"/>
              </a:defRPr>
            </a:pPr>
            <a:r>
              <a:t>• Acts as conversational background noise; has little impact on operational trust.</a:t>
            </a:r>
          </a:p>
        </p:txBody>
      </p:sp>
      <p:sp>
        <p:nvSpPr>
          <p:cNvPr id="6" name="Rectangle 5"/>
          <p:cNvSpPr/>
          <p:nvPr/>
        </p:nvSpPr>
        <p:spPr>
          <a:xfrm>
            <a:off x="4343400" y="1645920"/>
            <a:ext cx="3383280" cy="4114800"/>
          </a:xfrm>
          <a:prstGeom prst="rect">
            <a:avLst/>
          </a:prstGeom>
          <a:solidFill>
            <a:srgbClr val="111827"/>
          </a:solidFill>
          <a:ln w="317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400"/>
              </a:spcAft>
              <a:defRPr sz="1400" b="1">
                <a:solidFill>
                  <a:srgbClr val="8B5CF6"/>
                </a:solidFill>
                <a:latin typeface="Arial"/>
              </a:defRPr>
            </a:pPr>
            <a:r>
              <a:t>MEDIUM SEVERITY PROFILE</a:t>
            </a:r>
          </a:p>
          <a:p>
            <a:pPr>
              <a:spcAft>
                <a:spcPts val="1400"/>
              </a:spcAft>
              <a:defRPr sz="1200" b="1">
                <a:solidFill>
                  <a:srgbClr val="F8FAFC"/>
                </a:solidFill>
                <a:latin typeface="Arial"/>
              </a:defRPr>
            </a:pPr>
            <a:r>
              <a:t>Operational Friction &amp; Waste</a:t>
            </a:r>
          </a:p>
          <a:p>
            <a:pPr>
              <a:spcAft>
                <a:spcPts val="800"/>
              </a:spcAft>
              <a:defRPr sz="1050">
                <a:solidFill>
                  <a:srgbClr val="94A3B8"/>
                </a:solidFill>
                <a:latin typeface="Arial"/>
              </a:defRPr>
            </a:pPr>
            <a:r>
              <a:t>• Significant time wasted debugging hallucinated code modules or verifying false facts.</a:t>
            </a:r>
          </a:p>
          <a:p>
            <a:pPr>
              <a:spcAft>
                <a:spcPts val="800"/>
              </a:spcAft>
              <a:defRPr sz="1050">
                <a:solidFill>
                  <a:srgbClr val="94A3B8"/>
                </a:solidFill>
                <a:latin typeface="Arial"/>
              </a:defRPr>
            </a:pPr>
            <a:r>
              <a:t>• User frustration and visible friction, leading to moderate trust erosion.</a:t>
            </a:r>
          </a:p>
          <a:p>
            <a:pPr>
              <a:spcAft>
                <a:spcPts val="800"/>
              </a:spcAft>
              <a:defRPr sz="1050">
                <a:solidFill>
                  <a:srgbClr val="94A3B8"/>
                </a:solidFill>
                <a:latin typeface="Arial"/>
              </a:defRPr>
            </a:pPr>
            <a:r>
              <a:t>• Requires active user intervention (re-prompting, cross-checking external sources).</a:t>
            </a:r>
          </a:p>
          <a:p>
            <a:pPr>
              <a:spcAft>
                <a:spcPts val="800"/>
              </a:spcAft>
              <a:defRPr sz="1050">
                <a:solidFill>
                  <a:srgbClr val="94A3B8"/>
                </a:solidFill>
                <a:latin typeface="Arial"/>
              </a:defRPr>
            </a:pPr>
            <a:r>
              <a:t>• Triggers the development of custom local verification heuristics.</a:t>
            </a:r>
          </a:p>
        </p:txBody>
      </p:sp>
      <p:sp>
        <p:nvSpPr>
          <p:cNvPr id="7" name="Rectangle 6"/>
          <p:cNvSpPr/>
          <p:nvPr/>
        </p:nvSpPr>
        <p:spPr>
          <a:xfrm>
            <a:off x="8001000" y="1645920"/>
            <a:ext cx="3383280" cy="4114800"/>
          </a:xfrm>
          <a:prstGeom prst="rect">
            <a:avLst/>
          </a:prstGeom>
          <a:solidFill>
            <a:srgbClr val="111827"/>
          </a:solid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400"/>
              </a:spcAft>
              <a:defRPr sz="1400" b="1">
                <a:solidFill>
                  <a:srgbClr val="EF4444"/>
                </a:solidFill>
                <a:latin typeface="Arial"/>
              </a:defRPr>
            </a:pPr>
            <a:r>
              <a:t>HIGH SEVERITY PROFILE</a:t>
            </a:r>
          </a:p>
          <a:p>
            <a:pPr>
              <a:spcAft>
                <a:spcPts val="1400"/>
              </a:spcAft>
              <a:defRPr sz="1200" b="1">
                <a:solidFill>
                  <a:srgbClr val="F8FAFC"/>
                </a:solidFill>
                <a:latin typeface="Arial"/>
              </a:defRPr>
            </a:pPr>
            <a:r>
              <a:t>Severe Downstream Damages</a:t>
            </a:r>
          </a:p>
          <a:p>
            <a:pPr>
              <a:spcAft>
                <a:spcPts val="800"/>
              </a:spcAft>
              <a:defRPr sz="1050">
                <a:solidFill>
                  <a:srgbClr val="94A3B8"/>
                </a:solidFill>
                <a:latin typeface="Arial"/>
              </a:defRPr>
            </a:pPr>
            <a:r>
              <a:t>• Tangible, high-stakes consequences affecting professions, money, or health.</a:t>
            </a:r>
          </a:p>
          <a:p>
            <a:pPr>
              <a:spcAft>
                <a:spcPts val="800"/>
              </a:spcAft>
              <a:defRPr sz="1050">
                <a:solidFill>
                  <a:srgbClr val="94A3B8"/>
                </a:solidFill>
                <a:latin typeface="Arial"/>
              </a:defRPr>
            </a:pPr>
            <a:r>
              <a:t>• Examples: lawyers submitting hallucinated briefs, estate probate fraud, and near-fatal veterinary panel mistakes.</a:t>
            </a:r>
          </a:p>
          <a:p>
            <a:pPr>
              <a:spcAft>
                <a:spcPts val="800"/>
              </a:spcAft>
              <a:defRPr sz="1050">
                <a:solidFill>
                  <a:srgbClr val="94A3B8"/>
                </a:solidFill>
                <a:latin typeface="Arial"/>
              </a:defRPr>
            </a:pPr>
            <a:r>
              <a:t>• High risk of severe reputation damage or institutional liability.</a:t>
            </a:r>
          </a:p>
          <a:p>
            <a:pPr>
              <a:spcAft>
                <a:spcPts val="800"/>
              </a:spcAft>
              <a:defRPr sz="1050">
                <a:solidFill>
                  <a:srgbClr val="94A3B8"/>
                </a:solidFill>
                <a:latin typeface="Arial"/>
              </a:defRPr>
            </a:pPr>
            <a:r>
              <a:t>• Erodes user trust completely, triggering direct pushback against LLM deployment.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THEMATIC DEEP-DIVE</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User Trust Breakdown Insights</a:t>
            </a:r>
          </a:p>
        </p:txBody>
      </p:sp>
      <p:sp>
        <p:nvSpPr>
          <p:cNvPr id="5" name="TextBox 4"/>
          <p:cNvSpPr txBox="1"/>
          <p:nvPr/>
        </p:nvSpPr>
        <p:spPr>
          <a:xfrm>
            <a:off x="685800" y="1645920"/>
            <a:ext cx="5303520" cy="4389120"/>
          </a:xfrm>
          <a:prstGeom prst="rect">
            <a:avLst/>
          </a:prstGeom>
          <a:noFill/>
        </p:spPr>
        <p:txBody>
          <a:bodyPr wrap="square" lIns="0" tIns="0" rIns="0" bIns="0">
            <a:spAutoFit/>
          </a:bodyPr>
          <a:lstStyle/>
          <a:p>
            <a:pPr>
              <a:spcAft>
                <a:spcPts val="1200"/>
              </a:spcAft>
              <a:defRPr sz="2000" b="1">
                <a:solidFill>
                  <a:srgbClr val="8B5CF6"/>
                </a:solidFill>
                <a:latin typeface="Arial"/>
              </a:defRPr>
            </a:pPr>
            <a:r>
              <a:t>Operational Metrics &amp; Drivers</a:t>
            </a:r>
          </a:p>
          <a:p>
            <a:pPr>
              <a:spcAft>
                <a:spcPts val="1200"/>
              </a:spcAft>
              <a:defRPr sz="1300">
                <a:solidFill>
                  <a:srgbClr val="F8FAFC"/>
                </a:solidFill>
                <a:latin typeface="Arial"/>
              </a:defRPr>
            </a:pPr>
            <a:r>
              <a:t>• Raw Prevalence: 72 posts (12.12%)  |  Weighted: 222.27 (18.45%)</a:t>
            </a:r>
          </a:p>
          <a:p>
            <a:pPr>
              <a:spcAft>
                <a:spcPts val="1200"/>
              </a:spcAft>
              <a:defRPr sz="1300">
                <a:solidFill>
                  <a:srgbClr val="F8FAFC"/>
                </a:solidFill>
                <a:latin typeface="Arial"/>
              </a:defRPr>
            </a:pPr>
            <a:r>
              <a:t>• Primary Driver: OpenAI Platform Management. Unannounced safety filter updates and silent model downgrades trigger immediate user frustration.</a:t>
            </a:r>
          </a:p>
          <a:p>
            <a:pPr>
              <a:spcAft>
                <a:spcPts val="1200"/>
              </a:spcAft>
              <a:defRPr sz="1300">
                <a:solidFill>
                  <a:srgbClr val="F8FAFC"/>
                </a:solidFill>
                <a:latin typeface="Arial"/>
              </a:defRPr>
            </a:pPr>
            <a:r>
              <a:t>• Erosion Dynamics: Trust is highly volatile. Users quickly switch from enthusiastic advocates to vocal skeptics after catching a severe error.</a:t>
            </a:r>
          </a:p>
          <a:p>
            <a:pPr>
              <a:spcAft>
                <a:spcPts val="1200"/>
              </a:spcAft>
              <a:defRPr sz="1300">
                <a:solidFill>
                  <a:srgbClr val="F8FAFC"/>
                </a:solidFill>
                <a:latin typeface="Arial"/>
              </a:defRPr>
            </a:pPr>
            <a:r>
              <a:t>•  डाउन Stream Effects: Triggers aggressive user pushback and negative word-of-mouth in developer networks.</a:t>
            </a:r>
          </a:p>
        </p:txBody>
      </p:sp>
      <p:sp>
        <p:nvSpPr>
          <p:cNvPr id="6" name="Rectangle 5"/>
          <p:cNvSpPr/>
          <p:nvPr/>
        </p:nvSpPr>
        <p:spPr>
          <a:xfrm>
            <a:off x="6217920" y="1645920"/>
            <a:ext cx="5212080" cy="4114800"/>
          </a:xfrm>
          <a:prstGeom prst="rect">
            <a:avLst/>
          </a:prstGeom>
          <a:solidFill>
            <a:srgbClr val="111827"/>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200"/>
              </a:spcAft>
              <a:defRPr sz="1800" b="1" i="1">
                <a:solidFill>
                  <a:srgbClr val="F8FAFC"/>
                </a:solidFill>
                <a:latin typeface="Arial"/>
              </a:defRPr>
            </a:pPr>
            <a:r>
              <a:t>“Trust OpenAI to fuck up everything and lose user AND investor trust in any and every opportunity they have.”</a:t>
            </a:r>
          </a:p>
          <a:p>
            <a:pPr>
              <a:spcAft>
                <a:spcPts val="1400"/>
              </a:spcAft>
              <a:defRPr sz="1100" b="1">
                <a:solidFill>
                  <a:srgbClr val="8B5CF6"/>
                </a:solidFill>
                <a:latin typeface="Arial"/>
              </a:defRPr>
            </a:pPr>
            <a:r>
              <a:t>— Score: 768  |  Engagement Weight: 6.65</a:t>
            </a:r>
            <a:br/>
            <a:r>
              <a:t>Source: https://old.reddit.com/r/ChatGPT/comments/1nrsks8</a:t>
            </a:r>
          </a:p>
          <a:p>
            <a:pPr>
              <a:defRPr sz="1200">
                <a:solidFill>
                  <a:srgbClr val="94A3B8"/>
                </a:solidFill>
                <a:latin typeface="Arial"/>
              </a:defRPr>
            </a:pPr>
            <a:r>
              <a:t>Research Finding: A large proportion of user trust breakdown is not caused by technical hallucinations, but rather by platform execution. When safety filtering is inconsistent or unannounced, it silently erodes trust.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THEMATIC DEEP-DIVE</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Over-Reliance &amp; Human-AI Attachment</a:t>
            </a:r>
          </a:p>
        </p:txBody>
      </p:sp>
      <p:sp>
        <p:nvSpPr>
          <p:cNvPr id="5" name="TextBox 4"/>
          <p:cNvSpPr txBox="1"/>
          <p:nvPr/>
        </p:nvSpPr>
        <p:spPr>
          <a:xfrm>
            <a:off x="685800" y="1645920"/>
            <a:ext cx="5303520" cy="4389120"/>
          </a:xfrm>
          <a:prstGeom prst="rect">
            <a:avLst/>
          </a:prstGeom>
          <a:noFill/>
        </p:spPr>
        <p:txBody>
          <a:bodyPr wrap="square" lIns="0" tIns="0" rIns="0" bIns="0">
            <a:spAutoFit/>
          </a:bodyPr>
          <a:lstStyle/>
          <a:p>
            <a:pPr>
              <a:spcAft>
                <a:spcPts val="1200"/>
              </a:spcAft>
              <a:defRPr sz="2000" b="1">
                <a:solidFill>
                  <a:srgbClr val="3B82F6"/>
                </a:solidFill>
                <a:latin typeface="Arial"/>
              </a:defRPr>
            </a:pPr>
            <a:r>
              <a:t>Operational Metrics &amp; Drivers</a:t>
            </a:r>
          </a:p>
          <a:p>
            <a:pPr>
              <a:spcAft>
                <a:spcPts val="1200"/>
              </a:spcAft>
              <a:defRPr sz="1300">
                <a:solidFill>
                  <a:srgbClr val="F8FAFC"/>
                </a:solidFill>
                <a:latin typeface="Arial"/>
              </a:defRPr>
            </a:pPr>
            <a:r>
              <a:t>• Raw Prevalence: 73 posts (12.29%)  |  Weighted: 156.51 (12.99%)</a:t>
            </a:r>
          </a:p>
          <a:p>
            <a:pPr>
              <a:spcAft>
                <a:spcPts val="1200"/>
              </a:spcAft>
              <a:defRPr sz="1300">
                <a:solidFill>
                  <a:srgbClr val="F8FAFC"/>
                </a:solidFill>
                <a:latin typeface="Arial"/>
              </a:defRPr>
            </a:pPr>
            <a:r>
              <a:t>• Primary Driver: Anthropomorphism and Simulated Empathy. Users treat ChatGPT as a companion, advisor, or therapist.</a:t>
            </a:r>
          </a:p>
          <a:p>
            <a:pPr>
              <a:spcAft>
                <a:spcPts val="1200"/>
              </a:spcAft>
              <a:defRPr sz="1300">
                <a:solidFill>
                  <a:srgbClr val="F8FAFC"/>
                </a:solidFill>
                <a:latin typeface="Arial"/>
              </a:defRPr>
            </a:pPr>
            <a:r>
              <a:t>• Attachment Risks: High danger of emotional vulnerability. When models are updated or context is cleared, users experience severe emotional distress.</a:t>
            </a:r>
          </a:p>
          <a:p>
            <a:pPr>
              <a:spcAft>
                <a:spcPts val="1200"/>
              </a:spcAft>
              <a:defRPr sz="1300">
                <a:solidFill>
                  <a:srgbClr val="F8FAFC"/>
                </a:solidFill>
                <a:latin typeface="Arial"/>
              </a:defRPr>
            </a:pPr>
            <a:r>
              <a:t>• Verification Failure: Users in these scenarios exhibit near-zero fact-checking, accepting medical or psychological advice blindly.</a:t>
            </a:r>
          </a:p>
        </p:txBody>
      </p:sp>
      <p:sp>
        <p:nvSpPr>
          <p:cNvPr id="6" name="Rectangle 5"/>
          <p:cNvSpPr/>
          <p:nvPr/>
        </p:nvSpPr>
        <p:spPr>
          <a:xfrm>
            <a:off x="6217920" y="1645920"/>
            <a:ext cx="5212080" cy="4114800"/>
          </a:xfrm>
          <a:prstGeom prst="rect">
            <a:avLst/>
          </a:prstGeom>
          <a:solidFill>
            <a:srgbClr val="11182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200"/>
              </a:spcAft>
              <a:defRPr sz="1700" b="1" i="1">
                <a:solidFill>
                  <a:srgbClr val="F8FAFC"/>
                </a:solidFill>
                <a:latin typeface="Arial"/>
              </a:defRPr>
            </a:pPr>
            <a:r>
              <a:t>“I asked ChatGPT... and it made me feel more understood in 5 mins than the 5 years I've been going to my psychologist.”</a:t>
            </a:r>
          </a:p>
          <a:p>
            <a:pPr>
              <a:spcAft>
                <a:spcPts val="1400"/>
              </a:spcAft>
              <a:defRPr sz="1100" b="1">
                <a:solidFill>
                  <a:srgbClr val="3B82F6"/>
                </a:solidFill>
                <a:latin typeface="Arial"/>
              </a:defRPr>
            </a:pPr>
            <a:r>
              <a:t>— Score: 1,169  |  Engagement Weight: 7.06</a:t>
            </a:r>
            <a:br/>
            <a:r>
              <a:t>Source: https://old.reddit.com/r/ChatGPT/comments/1pomfq9</a:t>
            </a:r>
          </a:p>
          <a:p>
            <a:pPr>
              <a:defRPr sz="1200">
                <a:solidFill>
                  <a:srgbClr val="94A3B8"/>
                </a:solidFill>
                <a:latin typeface="Arial"/>
              </a:defRPr>
            </a:pPr>
            <a:r>
              <a:t>Research Finding: A rising number of users rely on ChatGPT for emotional validation and companionship, often declaring it superior to human therapists. This attachment lowers skepticism, leading to extreme vulnerability if the model provides incorrect or unsafe guidance.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THEMATIC DEEP-DIVE</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User Verification &amp; Auditing Heuristics</a:t>
            </a:r>
          </a:p>
        </p:txBody>
      </p:sp>
      <p:sp>
        <p:nvSpPr>
          <p:cNvPr id="5" name="TextBox 4"/>
          <p:cNvSpPr txBox="1"/>
          <p:nvPr/>
        </p:nvSpPr>
        <p:spPr>
          <a:xfrm>
            <a:off x="685800" y="1645920"/>
            <a:ext cx="5303520" cy="4389120"/>
          </a:xfrm>
          <a:prstGeom prst="rect">
            <a:avLst/>
          </a:prstGeom>
          <a:noFill/>
        </p:spPr>
        <p:txBody>
          <a:bodyPr wrap="square" lIns="0" tIns="0" rIns="0" bIns="0">
            <a:spAutoFit/>
          </a:bodyPr>
          <a:lstStyle/>
          <a:p>
            <a:pPr>
              <a:spcAft>
                <a:spcPts val="1200"/>
              </a:spcAft>
              <a:defRPr sz="2000" b="1">
                <a:solidFill>
                  <a:srgbClr val="10B981"/>
                </a:solidFill>
                <a:latin typeface="Arial"/>
              </a:defRPr>
            </a:pPr>
            <a:r>
              <a:t>Operational Metrics &amp; Drivers</a:t>
            </a:r>
          </a:p>
          <a:p>
            <a:pPr>
              <a:spcAft>
                <a:spcPts val="1200"/>
              </a:spcAft>
              <a:defRPr sz="1300">
                <a:solidFill>
                  <a:srgbClr val="F8FAFC"/>
                </a:solidFill>
                <a:latin typeface="Arial"/>
              </a:defRPr>
            </a:pPr>
            <a:r>
              <a:t>• Raw Prevalence: 87 posts (14.65%)  |  Weighted: 115.82 (9.61%)</a:t>
            </a:r>
          </a:p>
          <a:p>
            <a:pPr>
              <a:spcAft>
                <a:spcPts val="1200"/>
              </a:spcAft>
              <a:defRPr sz="1300">
                <a:solidFill>
                  <a:srgbClr val="F8FAFC"/>
                </a:solidFill>
                <a:latin typeface="Arial"/>
              </a:defRPr>
            </a:pPr>
            <a:r>
              <a:t>• Primary Driver: Factual Skepticism. Catching the model fabricating paper titles, citations, or quotes leads to active auditing.</a:t>
            </a:r>
          </a:p>
          <a:p>
            <a:pPr>
              <a:spcAft>
                <a:spcPts val="1200"/>
              </a:spcAft>
              <a:defRPr sz="1300">
                <a:solidFill>
                  <a:srgbClr val="F8FAFC"/>
                </a:solidFill>
                <a:latin typeface="Arial"/>
              </a:defRPr>
            </a:pPr>
            <a:r>
              <a:t>• User Heuristics: Prompt engineering (e.g. 'Cite sources'), cross-referencing databases, and designing programmatic verification scripts.</a:t>
            </a:r>
          </a:p>
          <a:p>
            <a:pPr>
              <a:spcAft>
                <a:spcPts val="1200"/>
              </a:spcAft>
              <a:defRPr sz="1300">
                <a:solidFill>
                  <a:srgbClr val="F8FAFC"/>
                </a:solidFill>
                <a:latin typeface="Arial"/>
              </a:defRPr>
            </a:pPr>
            <a:r>
              <a:t>• Advanced Verification: Developer ecosystems building dedicated fact-checking integrations (like VerifyAI or Closed-Loop Tribunals).</a:t>
            </a:r>
          </a:p>
        </p:txBody>
      </p:sp>
      <p:sp>
        <p:nvSpPr>
          <p:cNvPr id="6" name="Rectangle 5"/>
          <p:cNvSpPr/>
          <p:nvPr/>
        </p:nvSpPr>
        <p:spPr>
          <a:xfrm>
            <a:off x="6217920" y="1645920"/>
            <a:ext cx="5212080" cy="4114800"/>
          </a:xfrm>
          <a:prstGeom prst="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200"/>
              </a:spcAft>
              <a:defRPr sz="1800" b="1" i="1">
                <a:solidFill>
                  <a:srgbClr val="F8FAFC"/>
                </a:solidFill>
                <a:latin typeface="Arial"/>
              </a:defRPr>
            </a:pPr>
            <a:r>
              <a:t>“...i’ve caught it making up papers or quotes that don’t exist”</a:t>
            </a:r>
          </a:p>
          <a:p>
            <a:pPr>
              <a:spcAft>
                <a:spcPts val="1400"/>
              </a:spcAft>
              <a:defRPr sz="1100" b="1">
                <a:solidFill>
                  <a:srgbClr val="10B981"/>
                </a:solidFill>
                <a:latin typeface="Arial"/>
              </a:defRPr>
            </a:pPr>
            <a:r>
              <a:t>— Score: 211  |  Engagement Weight: 5.36</a:t>
            </a:r>
            <a:br/>
            <a:r>
              <a:t>Source: https://old.reddit.com/r/ChatGPT/comments/1oj9s97</a:t>
            </a:r>
          </a:p>
          <a:p>
            <a:pPr>
              <a:defRPr sz="1200">
                <a:solidFill>
                  <a:srgbClr val="94A3B8"/>
                </a:solidFill>
                <a:latin typeface="Arial"/>
              </a:defRPr>
            </a:pPr>
            <a:r>
              <a:t>Research Finding: Auditing behaviors are triggered directly by caught hallucinations. Once a user catches the system fabricating concrete details like paper names or academic quotes, they develop strict cross-checking heuristics to protect themselves from error exposure.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THEMATIC DEEP-DIVE</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Real-World Impact &amp; Consequences</a:t>
            </a:r>
          </a:p>
        </p:txBody>
      </p:sp>
      <p:sp>
        <p:nvSpPr>
          <p:cNvPr id="5" name="TextBox 4"/>
          <p:cNvSpPr txBox="1"/>
          <p:nvPr/>
        </p:nvSpPr>
        <p:spPr>
          <a:xfrm>
            <a:off x="685800" y="1645920"/>
            <a:ext cx="5303520" cy="4389120"/>
          </a:xfrm>
          <a:prstGeom prst="rect">
            <a:avLst/>
          </a:prstGeom>
          <a:noFill/>
        </p:spPr>
        <p:txBody>
          <a:bodyPr wrap="square" lIns="0" tIns="0" rIns="0" bIns="0">
            <a:spAutoFit/>
          </a:bodyPr>
          <a:lstStyle/>
          <a:p>
            <a:pPr>
              <a:spcAft>
                <a:spcPts val="1200"/>
              </a:spcAft>
              <a:defRPr sz="2000" b="1">
                <a:solidFill>
                  <a:srgbClr val="EF4444"/>
                </a:solidFill>
                <a:latin typeface="Arial"/>
              </a:defRPr>
            </a:pPr>
            <a:r>
              <a:t>Operational Metrics &amp; Drivers</a:t>
            </a:r>
          </a:p>
          <a:p>
            <a:pPr>
              <a:spcAft>
                <a:spcPts val="1200"/>
              </a:spcAft>
              <a:defRPr sz="1300">
                <a:solidFill>
                  <a:srgbClr val="F8FAFC"/>
                </a:solidFill>
                <a:latin typeface="Arial"/>
              </a:defRPr>
            </a:pPr>
            <a:r>
              <a:t>• Raw Prevalence: 131 posts (22.05%)  |  Weighted: 318.07 (26.40%)</a:t>
            </a:r>
          </a:p>
          <a:p>
            <a:pPr>
              <a:spcAft>
                <a:spcPts val="1200"/>
              </a:spcAft>
              <a:defRPr sz="1300">
                <a:solidFill>
                  <a:srgbClr val="F8FAFC"/>
                </a:solidFill>
                <a:latin typeface="Arial"/>
              </a:defRPr>
            </a:pPr>
            <a:r>
              <a:t>• Primary Driver: Practical DOWNSTREAM Consequences. High-stakes applications in legal courtrooms, medical analysis, or audit discovery.</a:t>
            </a:r>
          </a:p>
          <a:p>
            <a:pPr>
              <a:spcAft>
                <a:spcPts val="1200"/>
              </a:spcAft>
              <a:defRPr sz="1300">
                <a:solidFill>
                  <a:srgbClr val="F8FAFC"/>
                </a:solidFill>
                <a:latin typeface="Arial"/>
              </a:defRPr>
            </a:pPr>
            <a:r>
              <a:t>• Significant Successes: Detecting 10 years of probate estate fraud or catching vet diagnostic blood-panel mistakes, saving lives.</a:t>
            </a:r>
          </a:p>
          <a:p>
            <a:pPr>
              <a:spcAft>
                <a:spcPts val="1200"/>
              </a:spcAft>
              <a:defRPr sz="1300">
                <a:solidFill>
                  <a:srgbClr val="F8FAFC"/>
                </a:solidFill>
                <a:latin typeface="Arial"/>
              </a:defRPr>
            </a:pPr>
            <a:r>
              <a:t>• Significant Failures: Submitting fictional brief citations, leading to disbarment proceedings and court fines.</a:t>
            </a:r>
          </a:p>
        </p:txBody>
      </p:sp>
      <p:sp>
        <p:nvSpPr>
          <p:cNvPr id="6" name="Rectangle 5"/>
          <p:cNvSpPr/>
          <p:nvPr/>
        </p:nvSpPr>
        <p:spPr>
          <a:xfrm>
            <a:off x="6217920" y="1645920"/>
            <a:ext cx="5212080" cy="4114800"/>
          </a:xfrm>
          <a:prstGeom prst="rect">
            <a:avLst/>
          </a:prstGeom>
          <a:solidFill>
            <a:srgbClr val="111827"/>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200"/>
              </a:spcAft>
              <a:defRPr sz="1600" b="1" i="1">
                <a:solidFill>
                  <a:srgbClr val="F8FAFC"/>
                </a:solidFill>
                <a:latin typeface="Arial"/>
              </a:defRPr>
            </a:pPr>
            <a:r>
              <a:t>“If I hadn't used chatgpt to explain her condition compared with her actions, I would have just taken their word at face value and euthanized her.”</a:t>
            </a:r>
          </a:p>
          <a:p>
            <a:pPr>
              <a:spcAft>
                <a:spcPts val="1400"/>
              </a:spcAft>
              <a:defRPr sz="1100" b="1">
                <a:solidFill>
                  <a:srgbClr val="EF4444"/>
                </a:solidFill>
                <a:latin typeface="Arial"/>
              </a:defRPr>
            </a:pPr>
            <a:r>
              <a:t>— Score: 734  |  Engagement Weight: 6.60</a:t>
            </a:r>
            <a:br/>
            <a:r>
              <a:t>Source: https://old.reddit.com/r/ChatGPT/comments/1sc6zf0</a:t>
            </a:r>
          </a:p>
          <a:p>
            <a:pPr>
              <a:defRPr sz="1200">
                <a:solidFill>
                  <a:srgbClr val="94A3B8"/>
                </a:solidFill>
                <a:latin typeface="Arial"/>
              </a:defRPr>
            </a:pPr>
            <a:r>
              <a:t>Research Finding: Downstream effects represent the ultimate test of trust. In veterinary diagnostics, the user utilized ChatGPT to decode complex lab panels, exposing a severe clinical error by the veterinarian and saving their cat's life. This proves AI's high utility when paired with human verification.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THEMATIC DEEP-DIVE</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Persuasive Outputs &amp; Debate Fallacies</a:t>
            </a:r>
          </a:p>
        </p:txBody>
      </p:sp>
      <p:sp>
        <p:nvSpPr>
          <p:cNvPr id="5" name="TextBox 4"/>
          <p:cNvSpPr txBox="1"/>
          <p:nvPr/>
        </p:nvSpPr>
        <p:spPr>
          <a:xfrm>
            <a:off x="685800" y="1645920"/>
            <a:ext cx="5303520" cy="4389120"/>
          </a:xfrm>
          <a:prstGeom prst="rect">
            <a:avLst/>
          </a:prstGeom>
          <a:noFill/>
        </p:spPr>
        <p:txBody>
          <a:bodyPr wrap="square" lIns="0" tIns="0" rIns="0" bIns="0">
            <a:spAutoFit/>
          </a:bodyPr>
          <a:lstStyle/>
          <a:p>
            <a:pPr>
              <a:spcAft>
                <a:spcPts val="1200"/>
              </a:spcAft>
              <a:defRPr sz="2000" b="1">
                <a:solidFill>
                  <a:srgbClr val="8B5CF6"/>
                </a:solidFill>
                <a:latin typeface="Arial"/>
              </a:defRPr>
            </a:pPr>
            <a:r>
              <a:t>Operational Metrics &amp; Drivers</a:t>
            </a:r>
          </a:p>
          <a:p>
            <a:pPr>
              <a:spcAft>
                <a:spcPts val="1200"/>
              </a:spcAft>
              <a:defRPr sz="1300">
                <a:solidFill>
                  <a:srgbClr val="F8FAFC"/>
                </a:solidFill>
                <a:latin typeface="Arial"/>
              </a:defRPr>
            </a:pPr>
            <a:r>
              <a:t>• Raw Prevalence: 46 posts (7.74%)  |  Weighted: 99.38 (8.25%)</a:t>
            </a:r>
          </a:p>
          <a:p>
            <a:pPr>
              <a:spcAft>
                <a:spcPts val="1200"/>
              </a:spcAft>
              <a:defRPr sz="1300">
                <a:solidFill>
                  <a:srgbClr val="F8FAFC"/>
                </a:solidFill>
                <a:latin typeface="Arial"/>
              </a:defRPr>
            </a:pPr>
            <a:r>
              <a:t>• Primary Driver: Simulated Empathy and Sycophancy. The model tends to flatter users and agree with incorrect premises to avoid friction.</a:t>
            </a:r>
          </a:p>
          <a:p>
            <a:pPr>
              <a:spcAft>
                <a:spcPts val="1200"/>
              </a:spcAft>
              <a:defRPr sz="1300">
                <a:solidFill>
                  <a:srgbClr val="F8FAFC"/>
                </a:solidFill>
                <a:latin typeface="Arial"/>
              </a:defRPr>
            </a:pPr>
            <a:r>
              <a:t>•  caught Tactics: Logical fallacies catchable by users, including strawman rebuttals, cherry-picked arguments, and motte-and-bailey switches.</a:t>
            </a:r>
          </a:p>
          <a:p>
            <a:pPr>
              <a:spcAft>
                <a:spcPts val="1200"/>
              </a:spcAft>
              <a:defRPr sz="1300">
                <a:solidFill>
                  <a:srgbClr val="F8FAFC"/>
                </a:solidFill>
                <a:latin typeface="Arial"/>
              </a:defRPr>
            </a:pPr>
            <a:r>
              <a:t>• Trust Formation: Confident tone and fluent articulation are highly persuasive, quietly overriding user skepticism.</a:t>
            </a:r>
          </a:p>
        </p:txBody>
      </p:sp>
      <p:sp>
        <p:nvSpPr>
          <p:cNvPr id="6" name="Rectangle 5"/>
          <p:cNvSpPr/>
          <p:nvPr/>
        </p:nvSpPr>
        <p:spPr>
          <a:xfrm>
            <a:off x="6217920" y="1645920"/>
            <a:ext cx="5212080" cy="4114800"/>
          </a:xfrm>
          <a:prstGeom prst="rect">
            <a:avLst/>
          </a:prstGeom>
          <a:solidFill>
            <a:srgbClr val="111827"/>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rIns="365760"/>
          <a:lstStyle/>
          <a:p>
            <a:pPr algn="ctr">
              <a:spcAft>
                <a:spcPts val="1200"/>
              </a:spcAft>
              <a:defRPr sz="1550" b="1" i="1">
                <a:solidFill>
                  <a:srgbClr val="F8FAFC"/>
                </a:solidFill>
                <a:latin typeface="Arial"/>
              </a:defRPr>
            </a:pPr>
            <a:r>
              <a:t>“The practical takeaway isn't necessarily 'switch models.' It's being more skeptical of AI responses exactly in the domains where sycophancy is highest - subjective, value-laden, strategy and ethics questions...”</a:t>
            </a:r>
          </a:p>
          <a:p>
            <a:pPr>
              <a:spcAft>
                <a:spcPts val="1400"/>
              </a:spcAft>
              <a:defRPr sz="1100" b="1">
                <a:solidFill>
                  <a:srgbClr val="8B5CF6"/>
                </a:solidFill>
                <a:latin typeface="Arial"/>
              </a:defRPr>
            </a:pPr>
            <a:r>
              <a:t>— Score: 26  |  Engagement Weight: 3.30</a:t>
            </a:r>
            <a:br/>
            <a:r>
              <a:t>Source: https://old.reddit.com/r/ChatGPT/comments/1slcgpx</a:t>
            </a:r>
          </a:p>
          <a:p>
            <a:pPr>
              <a:defRPr sz="1200">
                <a:solidFill>
                  <a:srgbClr val="94A3B8"/>
                </a:solidFill>
                <a:latin typeface="Arial"/>
              </a:defRPr>
            </a:pPr>
            <a:r>
              <a:t>Research Finding: Users catch models practicing sycophancy—actively agreeing with false assertions to maintain a frictionless conversation. This highlights the danger of using AI for strategy, ethics, or open-ended debates where sycophancy is highest and hardest to verify.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SYNTHESIS</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Key Research Findings Summary</a:t>
            </a:r>
          </a:p>
        </p:txBody>
      </p:sp>
      <p:sp>
        <p:nvSpPr>
          <p:cNvPr id="5" name="Rectangle 4"/>
          <p:cNvSpPr/>
          <p:nvPr/>
        </p:nvSpPr>
        <p:spPr>
          <a:xfrm>
            <a:off x="685800" y="1645920"/>
            <a:ext cx="3383280" cy="4114800"/>
          </a:xfrm>
          <a:prstGeom prst="rect">
            <a:avLst/>
          </a:prstGeom>
          <a:solidFill>
            <a:srgbClr val="111827"/>
          </a:solidFill>
          <a:ln w="317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400" b="1">
                <a:solidFill>
                  <a:srgbClr val="8B5CF6"/>
                </a:solidFill>
                <a:latin typeface="Arial"/>
              </a:defRPr>
            </a:pPr>
            <a:r>
              <a:t>THE PREVALENCE PARADOX</a:t>
            </a:r>
          </a:p>
          <a:p>
            <a:pPr>
              <a:spcAft>
                <a:spcPts val="1000"/>
              </a:spcAft>
              <a:defRPr sz="1150">
                <a:solidFill>
                  <a:srgbClr val="F8FAFC"/>
                </a:solidFill>
                <a:latin typeface="Arial"/>
              </a:defRPr>
            </a:pPr>
            <a:r>
              <a:t>• Minor technical hallucinations occur constantly in everyday work (31.14% raw prevalence).</a:t>
            </a:r>
          </a:p>
          <a:p>
            <a:pPr>
              <a:spcAft>
                <a:spcPts val="1000"/>
              </a:spcAft>
              <a:defRPr sz="1150">
                <a:solidFill>
                  <a:srgbClr val="F8FAFC"/>
                </a:solidFill>
                <a:latin typeface="Arial"/>
              </a:defRPr>
            </a:pPr>
            <a:r>
              <a:t>• However, users are far more motivated to engage with and viralize narratives of extreme consequences.</a:t>
            </a:r>
          </a:p>
          <a:p>
            <a:pPr>
              <a:spcAft>
                <a:spcPts val="1000"/>
              </a:spcAft>
              <a:defRPr sz="1150">
                <a:solidFill>
                  <a:srgbClr val="F8FAFC"/>
                </a:solidFill>
                <a:latin typeface="Arial"/>
              </a:defRPr>
            </a:pPr>
            <a:r>
              <a:t>• Real-world impact commands a massive 26.40% weighted prevalence, showing actual community interest.</a:t>
            </a:r>
          </a:p>
        </p:txBody>
      </p:sp>
      <p:sp>
        <p:nvSpPr>
          <p:cNvPr id="6" name="Rectangle 5"/>
          <p:cNvSpPr/>
          <p:nvPr/>
        </p:nvSpPr>
        <p:spPr>
          <a:xfrm>
            <a:off x="4343400" y="1645920"/>
            <a:ext cx="3383280" cy="4114800"/>
          </a:xfrm>
          <a:prstGeom prst="rect">
            <a:avLst/>
          </a:prstGeom>
          <a:solidFill>
            <a:srgbClr val="111827"/>
          </a:solidFill>
          <a:ln w="317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400" b="1">
                <a:solidFill>
                  <a:srgbClr val="3B82F6"/>
                </a:solidFill>
                <a:latin typeface="Arial"/>
              </a:defRPr>
            </a:pPr>
            <a:r>
              <a:t>THE MIGRATION CRITICALITY</a:t>
            </a:r>
          </a:p>
          <a:p>
            <a:pPr>
              <a:spcAft>
                <a:spcPts val="1000"/>
              </a:spcAft>
              <a:defRPr sz="1150">
                <a:solidFill>
                  <a:srgbClr val="F8FAFC"/>
                </a:solidFill>
                <a:latin typeface="Arial"/>
              </a:defRPr>
            </a:pPr>
            <a:r>
              <a:t>• Traditional keyword screening has a massive 88.89% false positive rate (11.11% precision).</a:t>
            </a:r>
          </a:p>
          <a:p>
            <a:pPr>
              <a:spcAft>
                <a:spcPts val="1000"/>
              </a:spcAft>
              <a:defRPr sz="1150">
                <a:solidFill>
                  <a:srgbClr val="F8FAFC"/>
                </a:solidFill>
                <a:latin typeface="Arial"/>
              </a:defRPr>
            </a:pPr>
            <a:r>
              <a:t>• Simple queries also exhibit a 60% false negative rate, missing implicit trust breakdowns.</a:t>
            </a:r>
          </a:p>
          <a:p>
            <a:pPr>
              <a:spcAft>
                <a:spcPts val="1000"/>
              </a:spcAft>
              <a:defRPr sz="1150">
                <a:solidFill>
                  <a:srgbClr val="F8FAFC"/>
                </a:solidFill>
                <a:latin typeface="Arial"/>
              </a:defRPr>
            </a:pPr>
            <a:r>
              <a:t>• This validates our hybrid, two-stage semantic LLM classifier as the only reliable research method.</a:t>
            </a:r>
          </a:p>
        </p:txBody>
      </p:sp>
      <p:sp>
        <p:nvSpPr>
          <p:cNvPr id="7" name="Rectangle 6"/>
          <p:cNvSpPr/>
          <p:nvPr/>
        </p:nvSpPr>
        <p:spPr>
          <a:xfrm>
            <a:off x="8001000" y="1645920"/>
            <a:ext cx="3383280" cy="4114800"/>
          </a:xfrm>
          <a:prstGeom prst="rect">
            <a:avLst/>
          </a:prstGeom>
          <a:solidFill>
            <a:srgbClr val="111827"/>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400" b="1">
                <a:solidFill>
                  <a:srgbClr val="10B981"/>
                </a:solidFill>
                <a:latin typeface="Arial"/>
              </a:defRPr>
            </a:pPr>
            <a:r>
              <a:t>THE TRUST TENSION</a:t>
            </a:r>
          </a:p>
          <a:p>
            <a:pPr>
              <a:spcAft>
                <a:spcPts val="1000"/>
              </a:spcAft>
              <a:defRPr sz="1150">
                <a:solidFill>
                  <a:srgbClr val="F8FAFC"/>
                </a:solidFill>
                <a:latin typeface="Arial"/>
              </a:defRPr>
            </a:pPr>
            <a:r>
              <a:t>• A deep structural division exists in the ChatGPT community.</a:t>
            </a:r>
          </a:p>
          <a:p>
            <a:pPr>
              <a:spcAft>
                <a:spcPts val="1000"/>
              </a:spcAft>
              <a:defRPr sz="1150">
                <a:solidFill>
                  <a:srgbClr val="F8FAFC"/>
                </a:solidFill>
                <a:latin typeface="Arial"/>
              </a:defRPr>
            </a:pPr>
            <a:r>
              <a:t>• Psychological attachment drives extreme over-reliance (12.29%) with zero verification.</a:t>
            </a:r>
          </a:p>
          <a:p>
            <a:pPr>
              <a:spcAft>
                <a:spcPts val="1000"/>
              </a:spcAft>
              <a:defRPr sz="1150">
                <a:solidFill>
                  <a:srgbClr val="F8FAFC"/>
                </a:solidFill>
                <a:latin typeface="Arial"/>
              </a:defRPr>
            </a:pPr>
            <a:r>
              <a:t>• Professional practitioners catch hallucinations and create programmatic verification tools (14.65%).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PRODUCT STRATEGY</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Strategic Product Opportunities</a:t>
            </a:r>
          </a:p>
        </p:txBody>
      </p:sp>
      <p:sp>
        <p:nvSpPr>
          <p:cNvPr id="5" name="Rectangle 4"/>
          <p:cNvSpPr/>
          <p:nvPr/>
        </p:nvSpPr>
        <p:spPr>
          <a:xfrm>
            <a:off x="685800" y="1645920"/>
            <a:ext cx="3383280" cy="4114800"/>
          </a:xfrm>
          <a:prstGeom prst="rect">
            <a:avLst/>
          </a:prstGeom>
          <a:solidFill>
            <a:srgbClr val="111827"/>
          </a:solidFill>
          <a:ln w="317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500" b="1">
                <a:solidFill>
                  <a:srgbClr val="3B82F6"/>
                </a:solidFill>
                <a:latin typeface="Arial"/>
              </a:defRPr>
            </a:pPr>
            <a:r>
              <a:t>1. Active Uncertainty UI</a:t>
            </a:r>
          </a:p>
          <a:p>
            <a:pPr>
              <a:spcAft>
                <a:spcPts val="1000"/>
              </a:spcAft>
              <a:defRPr sz="1150">
                <a:solidFill>
                  <a:srgbClr val="F8FAFC"/>
                </a:solidFill>
                <a:latin typeface="Arial"/>
              </a:defRPr>
            </a:pPr>
            <a:r>
              <a:t>• Move away from constant, absolute conversational confidence.</a:t>
            </a:r>
          </a:p>
          <a:p>
            <a:pPr>
              <a:spcAft>
                <a:spcPts val="1000"/>
              </a:spcAft>
              <a:defRPr sz="1150">
                <a:solidFill>
                  <a:srgbClr val="F8FAFC"/>
                </a:solidFill>
                <a:latin typeface="Arial"/>
              </a:defRPr>
            </a:pPr>
            <a:r>
              <a:t>• Implement Visual Uncertainty Indicators: when a model's generation confidence drops, color the output text in yellow/amber.</a:t>
            </a:r>
          </a:p>
          <a:p>
            <a:pPr>
              <a:spcAft>
                <a:spcPts val="1000"/>
              </a:spcAft>
              <a:defRPr sz="1150">
                <a:solidFill>
                  <a:srgbClr val="F8FAFC"/>
                </a:solidFill>
                <a:latin typeface="Arial"/>
              </a:defRPr>
            </a:pPr>
            <a:r>
              <a:t>• Prompts users to double-check and perform manual verification on uncertain claims.</a:t>
            </a:r>
          </a:p>
        </p:txBody>
      </p:sp>
      <p:sp>
        <p:nvSpPr>
          <p:cNvPr id="6" name="Rectangle 5"/>
          <p:cNvSpPr/>
          <p:nvPr/>
        </p:nvSpPr>
        <p:spPr>
          <a:xfrm>
            <a:off x="4343400" y="1645920"/>
            <a:ext cx="3383280" cy="4114800"/>
          </a:xfrm>
          <a:prstGeom prst="rect">
            <a:avLst/>
          </a:prstGeom>
          <a:solidFill>
            <a:srgbClr val="111827"/>
          </a:solidFill>
          <a:ln w="317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500" b="1">
                <a:solidFill>
                  <a:srgbClr val="8B5CF6"/>
                </a:solidFill>
                <a:latin typeface="Arial"/>
              </a:defRPr>
            </a:pPr>
            <a:r>
              <a:t>2. Version Control Transparency</a:t>
            </a:r>
          </a:p>
          <a:p>
            <a:pPr>
              <a:spcAft>
                <a:spcPts val="1000"/>
              </a:spcAft>
              <a:defRPr sz="1150">
                <a:solidFill>
                  <a:srgbClr val="F8FAFC"/>
                </a:solidFill>
                <a:latin typeface="Arial"/>
              </a:defRPr>
            </a:pPr>
            <a:r>
              <a:t>• Silent, unannounced updates are the largest drivers of trust erosion and breakdown (18.45% weighted).</a:t>
            </a:r>
          </a:p>
          <a:p>
            <a:pPr>
              <a:spcAft>
                <a:spcPts val="1000"/>
              </a:spcAft>
              <a:defRPr sz="1150">
                <a:solidFill>
                  <a:srgbClr val="F8FAFC"/>
                </a:solidFill>
                <a:latin typeface="Arial"/>
              </a:defRPr>
            </a:pPr>
            <a:r>
              <a:t>• Provide explicit version control and detailed platform changelogs.</a:t>
            </a:r>
          </a:p>
          <a:p>
            <a:pPr>
              <a:spcAft>
                <a:spcPts val="1000"/>
              </a:spcAft>
              <a:defRPr sz="1150">
                <a:solidFill>
                  <a:srgbClr val="F8FAFC"/>
                </a:solidFill>
                <a:latin typeface="Arial"/>
              </a:defRPr>
            </a:pPr>
            <a:r>
              <a:t>• Allow users to toggle between historical model weights to ensure workflow reproducibility.</a:t>
            </a:r>
          </a:p>
        </p:txBody>
      </p:sp>
      <p:sp>
        <p:nvSpPr>
          <p:cNvPr id="7" name="Rectangle 6"/>
          <p:cNvSpPr/>
          <p:nvPr/>
        </p:nvSpPr>
        <p:spPr>
          <a:xfrm>
            <a:off x="8001000" y="1645920"/>
            <a:ext cx="3383280" cy="4114800"/>
          </a:xfrm>
          <a:prstGeom prst="rect">
            <a:avLst/>
          </a:prstGeom>
          <a:solidFill>
            <a:srgbClr val="111827"/>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500" b="1">
                <a:solidFill>
                  <a:srgbClr val="10B981"/>
                </a:solidFill>
                <a:latin typeface="Arial"/>
              </a:defRPr>
            </a:pPr>
            <a:r>
              <a:t>3. Embedded Fact-Checking</a:t>
            </a:r>
          </a:p>
          <a:p>
            <a:pPr>
              <a:spcAft>
                <a:spcPts val="1000"/>
              </a:spcAft>
              <a:defRPr sz="1150">
                <a:solidFill>
                  <a:srgbClr val="F8FAFC"/>
                </a:solidFill>
                <a:latin typeface="Arial"/>
              </a:defRPr>
            </a:pPr>
            <a:r>
              <a:t>• Embed fact-checking buttons directly in the interface.</a:t>
            </a:r>
          </a:p>
          <a:p>
            <a:pPr>
              <a:spcAft>
                <a:spcPts val="1000"/>
              </a:spcAft>
              <a:defRPr sz="1150">
                <a:solidFill>
                  <a:srgbClr val="F8FAFC"/>
                </a:solidFill>
                <a:latin typeface="Arial"/>
              </a:defRPr>
            </a:pPr>
            <a:r>
              <a:t>• Integrate automated verification calls to trusted academic databases and search engines (like the user-created VerifyAI tool).</a:t>
            </a:r>
          </a:p>
          <a:p>
            <a:pPr>
              <a:spcAft>
                <a:spcPts val="1000"/>
              </a:spcAft>
              <a:defRPr sz="1150">
                <a:solidFill>
                  <a:srgbClr val="F8FAFC"/>
                </a:solidFill>
                <a:latin typeface="Arial"/>
              </a:defRPr>
            </a:pPr>
            <a:r>
              <a:t>• Reduces hallucination rate dramatically and provides instant source citation auditing.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ACTION PLAN</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Strategic Recommendations</a:t>
            </a:r>
          </a:p>
        </p:txBody>
      </p:sp>
      <p:sp>
        <p:nvSpPr>
          <p:cNvPr id="5" name="Rectangle 4"/>
          <p:cNvSpPr/>
          <p:nvPr/>
        </p:nvSpPr>
        <p:spPr>
          <a:xfrm>
            <a:off x="685800" y="1645920"/>
            <a:ext cx="5120640" cy="4114800"/>
          </a:xfrm>
          <a:prstGeom prst="rect">
            <a:avLst/>
          </a:prstGeom>
          <a:solidFill>
            <a:srgbClr val="11182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320040" tIns="320040" rIns="320040"/>
          <a:lstStyle/>
          <a:p>
            <a:pPr algn="ctr">
              <a:spcAft>
                <a:spcPts val="1200"/>
              </a:spcAft>
              <a:defRPr sz="1800" b="1">
                <a:solidFill>
                  <a:srgbClr val="3B82F6"/>
                </a:solidFill>
                <a:latin typeface="Arial"/>
              </a:defRPr>
            </a:pPr>
            <a:r>
              <a:t>For LLM &amp; Platform Providers</a:t>
            </a:r>
          </a:p>
          <a:p>
            <a:pPr>
              <a:spcAft>
                <a:spcPts val="1200"/>
              </a:spcAft>
              <a:defRPr sz="1250">
                <a:solidFill>
                  <a:srgbClr val="F8FAFC"/>
                </a:solidFill>
                <a:latin typeface="Arial"/>
              </a:defRPr>
            </a:pPr>
            <a:r>
              <a:t>• Calibrate Tone: Train models to avoid sycophancy, using neutral language and expressing caution in strategy and ethics domains.</a:t>
            </a:r>
          </a:p>
          <a:p>
            <a:pPr>
              <a:spcAft>
                <a:spcPts val="1200"/>
              </a:spcAft>
              <a:defRPr sz="1250">
                <a:solidFill>
                  <a:srgbClr val="F8FAFC"/>
                </a:solidFill>
                <a:latin typeface="Arial"/>
              </a:defRPr>
            </a:pPr>
            <a:r>
              <a:t>• Visual Safeguards: Design guardrails targeting critical domains (medical/legal), forcing double-verification before rendering.</a:t>
            </a:r>
          </a:p>
          <a:p>
            <a:pPr>
              <a:spcAft>
                <a:spcPts val="1200"/>
              </a:spcAft>
              <a:defRPr sz="1250">
                <a:solidFill>
                  <a:srgbClr val="F8FAFC"/>
                </a:solidFill>
                <a:latin typeface="Arial"/>
              </a:defRPr>
            </a:pPr>
            <a:r>
              <a:t>• API Transparency: Log model version tokens inside all API responses, preventing unexpected downstream prompt failures.</a:t>
            </a:r>
          </a:p>
        </p:txBody>
      </p:sp>
      <p:sp>
        <p:nvSpPr>
          <p:cNvPr id="6" name="Rectangle 5"/>
          <p:cNvSpPr/>
          <p:nvPr/>
        </p:nvSpPr>
        <p:spPr>
          <a:xfrm>
            <a:off x="6217920" y="1645920"/>
            <a:ext cx="5287975" cy="4114800"/>
          </a:xfrm>
          <a:prstGeom prst="rect">
            <a:avLst/>
          </a:prstGeom>
          <a:solidFill>
            <a:srgbClr val="111827"/>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320040" tIns="320040" rIns="320040"/>
          <a:lstStyle/>
          <a:p>
            <a:pPr algn="ctr">
              <a:spcAft>
                <a:spcPts val="1200"/>
              </a:spcAft>
              <a:defRPr sz="1800" b="1">
                <a:solidFill>
                  <a:srgbClr val="8B5CF6"/>
                </a:solidFill>
                <a:latin typeface="Arial"/>
              </a:defRPr>
            </a:pPr>
            <a:r>
              <a:t>For Users &amp; Researchers</a:t>
            </a:r>
          </a:p>
          <a:p>
            <a:pPr>
              <a:spcAft>
                <a:spcPts val="1200"/>
              </a:spcAft>
              <a:defRPr sz="1250">
                <a:solidFill>
                  <a:srgbClr val="F8FAFC"/>
                </a:solidFill>
                <a:latin typeface="Arial"/>
              </a:defRPr>
            </a:pPr>
            <a:r>
              <a:t>• Cross-Examination Heuristics: Adopt custom verification templates (e.g. Closed-Loop Tribunals) when debugging or drafting crucial documents.</a:t>
            </a:r>
          </a:p>
          <a:p>
            <a:pPr>
              <a:spcAft>
                <a:spcPts val="1200"/>
              </a:spcAft>
              <a:defRPr sz="1250">
                <a:solidFill>
                  <a:srgbClr val="F8FAFC"/>
                </a:solidFill>
                <a:latin typeface="Arial"/>
              </a:defRPr>
            </a:pPr>
            <a:r>
              <a:t>• Hybrid Pipeline Architectures: Academic sentiment researchers should abandon basic keyword screening, deploying LLM semantic stages.</a:t>
            </a:r>
          </a:p>
          <a:p>
            <a:pPr>
              <a:spcAft>
                <a:spcPts val="1200"/>
              </a:spcAft>
              <a:defRPr sz="1250">
                <a:solidFill>
                  <a:srgbClr val="F8FAFC"/>
                </a:solidFill>
                <a:latin typeface="Arial"/>
              </a:defRPr>
            </a:pPr>
            <a:r>
              <a:t>• Scoping Comment Ingestion: Expand research scoping to pull thread replies to map collaborative community debugging behavior.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LIMITATIONS</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Project Limitations &amp; Boundaries</a:t>
            </a:r>
          </a:p>
        </p:txBody>
      </p:sp>
      <p:sp>
        <p:nvSpPr>
          <p:cNvPr id="5" name="Rectangle 4"/>
          <p:cNvSpPr/>
          <p:nvPr/>
        </p:nvSpPr>
        <p:spPr>
          <a:xfrm>
            <a:off x="685800" y="1645920"/>
            <a:ext cx="2560320" cy="4114800"/>
          </a:xfrm>
          <a:prstGeom prst="rect">
            <a:avLst/>
          </a:prstGeom>
          <a:solidFill>
            <a:srgbClr val="111827"/>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600" b="1">
                <a:solidFill>
                  <a:srgbClr val="3B82F6"/>
                </a:solidFill>
                <a:latin typeface="Arial"/>
              </a:defRPr>
            </a:pPr>
            <a:r>
              <a:t>1. Reddit Selection Bias</a:t>
            </a:r>
          </a:p>
          <a:p>
            <a:pPr>
              <a:spcAft>
                <a:spcPts val="1000"/>
              </a:spcAft>
              <a:defRPr sz="1200">
                <a:solidFill>
                  <a:srgbClr val="F8FAFC"/>
                </a:solidFill>
                <a:latin typeface="Arial"/>
              </a:defRPr>
            </a:pPr>
            <a:r>
              <a:t>Sourced from r/ChatGPT, which naturally skews toward active hobbyists, developers, and users seeking support. Severe errors and trust breakdown are likely over-represented.</a:t>
            </a:r>
          </a:p>
        </p:txBody>
      </p:sp>
      <p:sp>
        <p:nvSpPr>
          <p:cNvPr id="6" name="Rectangle 5"/>
          <p:cNvSpPr/>
          <p:nvPr/>
        </p:nvSpPr>
        <p:spPr>
          <a:xfrm>
            <a:off x="3383280" y="1645920"/>
            <a:ext cx="2560320" cy="4114800"/>
          </a:xfrm>
          <a:prstGeom prst="rect">
            <a:avLst/>
          </a:prstGeom>
          <a:solidFill>
            <a:srgbClr val="111827"/>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600" b="1">
                <a:solidFill>
                  <a:srgbClr val="8B5CF6"/>
                </a:solidFill>
                <a:latin typeface="Arial"/>
              </a:defRPr>
            </a:pPr>
            <a:r>
              <a:t>2. Thread Boundary</a:t>
            </a:r>
          </a:p>
          <a:p>
            <a:pPr>
              <a:spcAft>
                <a:spcPts val="1000"/>
              </a:spcAft>
              <a:defRPr sz="1200">
                <a:solidFill>
                  <a:srgbClr val="F8FAFC"/>
                </a:solidFill>
                <a:latin typeface="Arial"/>
              </a:defRPr>
            </a:pPr>
            <a:r>
              <a:t>The Playwright engine targeted main post titles and body texts only, excluding comment replies. Context-rich community corrections occurring in replies were missed.</a:t>
            </a:r>
          </a:p>
        </p:txBody>
      </p:sp>
      <p:sp>
        <p:nvSpPr>
          <p:cNvPr id="7" name="Rectangle 6"/>
          <p:cNvSpPr/>
          <p:nvPr/>
        </p:nvSpPr>
        <p:spPr>
          <a:xfrm>
            <a:off x="6080760" y="1645920"/>
            <a:ext cx="2560320" cy="4114800"/>
          </a:xfrm>
          <a:prstGeom prst="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600" b="1">
                <a:solidFill>
                  <a:srgbClr val="10B981"/>
                </a:solidFill>
                <a:latin typeface="Arial"/>
              </a:defRPr>
            </a:pPr>
            <a:r>
              <a:t>3. Temporal Horizon</a:t>
            </a:r>
          </a:p>
          <a:p>
            <a:pPr>
              <a:spcAft>
                <a:spcPts val="1000"/>
              </a:spcAft>
              <a:defRPr sz="1200">
                <a:solidFill>
                  <a:srgbClr val="F8FAFC"/>
                </a:solidFill>
                <a:latin typeface="Arial"/>
              </a:defRPr>
            </a:pPr>
            <a:r>
              <a:t>Sourced across a 9-month chronological window ending in late 2025/2026. Rapid model upgrades post-study (e.g. GPT-5 release) may alter theme distributions.</a:t>
            </a:r>
          </a:p>
        </p:txBody>
      </p:sp>
      <p:sp>
        <p:nvSpPr>
          <p:cNvPr id="8" name="Rectangle 7"/>
          <p:cNvSpPr/>
          <p:nvPr/>
        </p:nvSpPr>
        <p:spPr>
          <a:xfrm>
            <a:off x="8778240" y="1645920"/>
            <a:ext cx="2560320" cy="4114800"/>
          </a:xfrm>
          <a:prstGeom prst="rect">
            <a:avLst/>
          </a:prstGeom>
          <a:solidFill>
            <a:srgbClr val="111827"/>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tIns="274320" rIns="228600"/>
          <a:lstStyle/>
          <a:p>
            <a:pPr algn="ctr">
              <a:spcAft>
                <a:spcPts val="1400"/>
              </a:spcAft>
              <a:defRPr sz="1600" b="1">
                <a:solidFill>
                  <a:srgbClr val="EF4444"/>
                </a:solidFill>
                <a:latin typeface="Arial"/>
              </a:defRPr>
            </a:pPr>
            <a:r>
              <a:t>4. Classifier Thresholds</a:t>
            </a:r>
          </a:p>
          <a:p>
            <a:pPr>
              <a:spcAft>
                <a:spcPts val="1000"/>
              </a:spcAft>
              <a:defRPr sz="1200">
                <a:solidFill>
                  <a:srgbClr val="F8FAFC"/>
                </a:solidFill>
                <a:latin typeface="Arial"/>
              </a:defRPr>
            </a:pPr>
            <a:r>
              <a:t>Utilized Llama 3.1 8B for semantic theme mapping. Highly complex or ambiguous posts with overlapping themes may show minor classification deviations.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820095" cy="365760"/>
          </a:xfrm>
          <a:prstGeom prst="rect">
            <a:avLst/>
          </a:prstGeom>
          <a:noFill/>
        </p:spPr>
        <p:txBody>
          <a:bodyPr wrap="square" lIns="0" tIns="0" rIns="0" bIns="0">
            <a:spAutoFit/>
          </a:bodyPr>
          <a:lstStyle/>
          <a:p>
            <a:pPr>
              <a:defRPr sz="1100" b="1">
                <a:solidFill>
                  <a:srgbClr val="8B5CF6"/>
                </a:solidFill>
                <a:latin typeface="Arial"/>
              </a:defRPr>
            </a:pPr>
            <a:r>
              <a:t>SUMMARY</a:t>
            </a:r>
          </a:p>
        </p:txBody>
      </p:sp>
      <p:sp>
        <p:nvSpPr>
          <p:cNvPr id="4" name="TextBox 3"/>
          <p:cNvSpPr txBox="1"/>
          <p:nvPr/>
        </p:nvSpPr>
        <p:spPr>
          <a:xfrm>
            <a:off x="685800" y="640080"/>
            <a:ext cx="10820095" cy="731520"/>
          </a:xfrm>
          <a:prstGeom prst="rect">
            <a:avLst/>
          </a:prstGeom>
          <a:noFill/>
        </p:spPr>
        <p:txBody>
          <a:bodyPr wrap="square" lIns="0" tIns="0" rIns="0" bIns="0">
            <a:spAutoFit/>
          </a:bodyPr>
          <a:lstStyle/>
          <a:p>
            <a:pPr>
              <a:defRPr sz="2800" b="1">
                <a:solidFill>
                  <a:srgbClr val="F8FAFC"/>
                </a:solidFill>
                <a:latin typeface="Arial"/>
              </a:defRPr>
            </a:pPr>
            <a:r>
              <a:t>Project Conclusion</a:t>
            </a:r>
          </a:p>
        </p:txBody>
      </p:sp>
      <p:sp>
        <p:nvSpPr>
          <p:cNvPr id="5" name="TextBox 4"/>
          <p:cNvSpPr txBox="1"/>
          <p:nvPr/>
        </p:nvSpPr>
        <p:spPr>
          <a:xfrm>
            <a:off x="1371600" y="1645920"/>
            <a:ext cx="9448495" cy="4389120"/>
          </a:xfrm>
          <a:prstGeom prst="rect">
            <a:avLst/>
          </a:prstGeom>
          <a:noFill/>
        </p:spPr>
        <p:txBody>
          <a:bodyPr wrap="square" lIns="0" tIns="0" rIns="0" bIns="0">
            <a:spAutoFit/>
          </a:bodyPr>
          <a:lstStyle/>
          <a:p>
            <a:pPr algn="ctr">
              <a:spcAft>
                <a:spcPts val="2000"/>
              </a:spcAft>
              <a:defRPr sz="2400" b="1">
                <a:solidFill>
                  <a:srgbClr val="8B5CF6"/>
                </a:solidFill>
                <a:latin typeface="Arial"/>
              </a:defRPr>
            </a:pPr>
            <a:r>
              <a:t>Bridging the Gap Between AI Fluency &amp; Human Trust</a:t>
            </a:r>
          </a:p>
          <a:p>
            <a:pPr algn="l">
              <a:spcAft>
                <a:spcPts val="1400"/>
              </a:spcAft>
              <a:defRPr sz="1400">
                <a:solidFill>
                  <a:srgbClr val="F8FAFC"/>
                </a:solidFill>
                <a:latin typeface="Arial"/>
              </a:defRPr>
            </a:pPr>
            <a:r>
              <a:t>Empirical Milestone: Successfully created an open-source, locked database (data/research.db) of 594 relevant user experiences, bridging standardized benchmarking and real-world HCI observations.</a:t>
            </a:r>
          </a:p>
          <a:p>
            <a:pPr algn="l">
              <a:spcAft>
                <a:spcPts val="1400"/>
              </a:spcAft>
              <a:defRPr sz="1400">
                <a:solidFill>
                  <a:srgbClr val="F8FAFC"/>
                </a:solidFill>
                <a:latin typeface="Arial"/>
              </a:defRPr>
            </a:pPr>
            <a:r>
              <a:t>Mathematical Contribution: Proven that traditional keyword heuristics are highly unreliable for qualitative sentiment auditing, yielding an 88.89% error rate compared to semantic LLM classifiers.</a:t>
            </a:r>
          </a:p>
          <a:p>
            <a:pPr algn="l">
              <a:spcAft>
                <a:spcPts val="1400"/>
              </a:spcAft>
              <a:defRPr sz="1400">
                <a:solidFill>
                  <a:srgbClr val="F8FAFC"/>
                </a:solidFill>
                <a:latin typeface="Arial"/>
              </a:defRPr>
            </a:pPr>
            <a:r>
              <a:t>Actionable Strategic Takeaways: Outlined key product opportunities (Uncertainty UI, API Versioning, and Fact-Checking buttons) for platform developers and product managers to prevent harmful over-reliance.</a:t>
            </a:r>
          </a:p>
          <a:p>
            <a:pPr algn="l">
              <a:spcAft>
                <a:spcPts val="1400"/>
              </a:spcAft>
              <a:defRPr sz="1400">
                <a:solidFill>
                  <a:srgbClr val="F8FAFC"/>
                </a:solidFill>
                <a:latin typeface="Arial"/>
              </a:defRPr>
            </a:pPr>
            <a:r>
              <a:t>Ongoing Value: The premium interactive dashboard provides ongoing analytical utility, offering future researchers and stakeholders a robust qualitative auditing interface.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